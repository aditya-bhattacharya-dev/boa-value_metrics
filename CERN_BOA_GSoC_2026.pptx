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Open Sauce Bold" charset="1" panose="00000800000000000000"/>
      <p:regular r:id="rId14"/>
    </p:embeddedFont>
    <p:embeddedFont>
      <p:font typeface="Public Sans Bold" charset="1" panose="00000000000000000000"/>
      <p:regular r:id="rId15"/>
    </p:embeddedFont>
    <p:embeddedFont>
      <p:font typeface="Public Sans" charset="1" panose="00000000000000000000"/>
      <p:regular r:id="rId16"/>
    </p:embeddedFont>
    <p:embeddedFont>
      <p:font typeface="Canva Sans Bold" charset="1" panose="020B0803030501040103"/>
      <p:regular r:id="rId17"/>
    </p:embeddedFont>
    <p:embeddedFont>
      <p:font typeface="Canva Sans" charset="1" panose="020B0503030501040103"/>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1.png" Type="http://schemas.openxmlformats.org/officeDocument/2006/relationships/image"/><Relationship Id="rId9" Target="../media/image1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12" Target="../media/image17.png" Type="http://schemas.openxmlformats.org/officeDocument/2006/relationships/image"/><Relationship Id="rId13" Target="../media/image18.svg" Type="http://schemas.openxmlformats.org/officeDocument/2006/relationships/image"/><Relationship Id="rId14" Target="../media/image19.png" Type="http://schemas.openxmlformats.org/officeDocument/2006/relationships/image"/><Relationship Id="rId15" Target="../media/image20.svg" Type="http://schemas.openxmlformats.org/officeDocument/2006/relationships/image"/><Relationship Id="rId16" Target="../media/image21.png" Type="http://schemas.openxmlformats.org/officeDocument/2006/relationships/image"/><Relationship Id="rId17" Target="../media/image22.svg" Type="http://schemas.openxmlformats.org/officeDocument/2006/relationships/image"/><Relationship Id="rId18" Target="../media/image8.png" Type="http://schemas.openxmlformats.org/officeDocument/2006/relationships/image"/><Relationship Id="rId19" Target="../media/image9.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png" Type="http://schemas.openxmlformats.org/officeDocument/2006/relationships/image"/><Relationship Id="rId11" Target="../media/image8.png" Type="http://schemas.openxmlformats.org/officeDocument/2006/relationships/image"/><Relationship Id="rId12" Target="../media/image9.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23.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C2C2C">
                <a:alpha val="100000"/>
              </a:srgbClr>
            </a:gs>
            <a:gs pos="100000">
              <a:srgbClr val="000000">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true" rot="0">
            <a:off x="15471768" y="-2169221"/>
            <a:ext cx="5336336" cy="8556807"/>
          </a:xfrm>
          <a:custGeom>
            <a:avLst/>
            <a:gdLst/>
            <a:ahLst/>
            <a:cxnLst/>
            <a:rect r="r" b="b" t="t" l="l"/>
            <a:pathLst>
              <a:path h="8556807" w="5336336">
                <a:moveTo>
                  <a:pt x="0" y="8556807"/>
                </a:moveTo>
                <a:lnTo>
                  <a:pt x="5336336" y="8556807"/>
                </a:lnTo>
                <a:lnTo>
                  <a:pt x="5336336" y="0"/>
                </a:lnTo>
                <a:lnTo>
                  <a:pt x="0" y="0"/>
                </a:lnTo>
                <a:lnTo>
                  <a:pt x="0" y="855680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2520104" y="3899414"/>
            <a:ext cx="5336336" cy="8556807"/>
          </a:xfrm>
          <a:custGeom>
            <a:avLst/>
            <a:gdLst/>
            <a:ahLst/>
            <a:cxnLst/>
            <a:rect r="r" b="b" t="t" l="l"/>
            <a:pathLst>
              <a:path h="8556807" w="5336336">
                <a:moveTo>
                  <a:pt x="5336336" y="0"/>
                </a:moveTo>
                <a:lnTo>
                  <a:pt x="0" y="0"/>
                </a:lnTo>
                <a:lnTo>
                  <a:pt x="0" y="8556807"/>
                </a:lnTo>
                <a:lnTo>
                  <a:pt x="5336336" y="8556807"/>
                </a:lnTo>
                <a:lnTo>
                  <a:pt x="533633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768686" y="768913"/>
            <a:ext cx="1849220" cy="1849220"/>
          </a:xfrm>
          <a:custGeom>
            <a:avLst/>
            <a:gdLst/>
            <a:ahLst/>
            <a:cxnLst/>
            <a:rect r="r" b="b" t="t" l="l"/>
            <a:pathLst>
              <a:path h="1849220" w="1849220">
                <a:moveTo>
                  <a:pt x="1849219" y="1849219"/>
                </a:moveTo>
                <a:lnTo>
                  <a:pt x="0" y="1849219"/>
                </a:lnTo>
                <a:lnTo>
                  <a:pt x="0" y="0"/>
                </a:lnTo>
                <a:lnTo>
                  <a:pt x="1849219" y="0"/>
                </a:lnTo>
                <a:lnTo>
                  <a:pt x="1849219" y="184921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400000">
            <a:off x="13333013" y="121638"/>
            <a:ext cx="1375437" cy="1814125"/>
          </a:xfrm>
          <a:custGeom>
            <a:avLst/>
            <a:gdLst/>
            <a:ahLst/>
            <a:cxnLst/>
            <a:rect r="r" b="b" t="t" l="l"/>
            <a:pathLst>
              <a:path h="1814125" w="1375437">
                <a:moveTo>
                  <a:pt x="0" y="0"/>
                </a:moveTo>
                <a:lnTo>
                  <a:pt x="1375437" y="0"/>
                </a:lnTo>
                <a:lnTo>
                  <a:pt x="1375437" y="1814124"/>
                </a:lnTo>
                <a:lnTo>
                  <a:pt x="0" y="181412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6563004" y="7063561"/>
            <a:ext cx="5161993" cy="605307"/>
            <a:chOff x="0" y="0"/>
            <a:chExt cx="3465735" cy="406400"/>
          </a:xfrm>
        </p:grpSpPr>
        <p:sp>
          <p:nvSpPr>
            <p:cNvPr name="Freeform 7" id="7"/>
            <p:cNvSpPr/>
            <p:nvPr/>
          </p:nvSpPr>
          <p:spPr>
            <a:xfrm flipH="false" flipV="false" rot="0">
              <a:off x="0" y="0"/>
              <a:ext cx="3465735" cy="406400"/>
            </a:xfrm>
            <a:custGeom>
              <a:avLst/>
              <a:gdLst/>
              <a:ahLst/>
              <a:cxnLst/>
              <a:rect r="r" b="b" t="t" l="l"/>
              <a:pathLst>
                <a:path h="406400" w="3465735">
                  <a:moveTo>
                    <a:pt x="3262535" y="0"/>
                  </a:moveTo>
                  <a:cubicBezTo>
                    <a:pt x="3374760" y="0"/>
                    <a:pt x="3465735" y="90976"/>
                    <a:pt x="3465735" y="203200"/>
                  </a:cubicBezTo>
                  <a:cubicBezTo>
                    <a:pt x="3465735" y="315424"/>
                    <a:pt x="3374760" y="406400"/>
                    <a:pt x="3262535" y="406400"/>
                  </a:cubicBezTo>
                  <a:lnTo>
                    <a:pt x="203200" y="406400"/>
                  </a:lnTo>
                  <a:cubicBezTo>
                    <a:pt x="90976" y="406400"/>
                    <a:pt x="0" y="315424"/>
                    <a:pt x="0" y="203200"/>
                  </a:cubicBezTo>
                  <a:cubicBezTo>
                    <a:pt x="0" y="90976"/>
                    <a:pt x="90976" y="0"/>
                    <a:pt x="203200" y="0"/>
                  </a:cubicBezTo>
                  <a:close/>
                </a:path>
              </a:pathLst>
            </a:custGeom>
            <a:solidFill>
              <a:srgbClr val="79E920"/>
            </a:solidFill>
          </p:spPr>
        </p:sp>
        <p:sp>
          <p:nvSpPr>
            <p:cNvPr name="TextBox 8" id="8"/>
            <p:cNvSpPr txBox="true"/>
            <p:nvPr/>
          </p:nvSpPr>
          <p:spPr>
            <a:xfrm>
              <a:off x="0" y="-38100"/>
              <a:ext cx="3465735"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3193979" y="4402009"/>
            <a:ext cx="4574307" cy="457430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9E920">
                    <a:alpha val="100000"/>
                  </a:srgbClr>
                </a:gs>
                <a:gs pos="100000">
                  <a:srgbClr val="233D0F">
                    <a:alpha val="100000"/>
                  </a:srgbClr>
                </a:gs>
              </a:gsLst>
              <a:lin ang="0"/>
            </a:gra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21402" y="3899414"/>
            <a:ext cx="5589660" cy="5579497"/>
          </a:xfrm>
          <a:custGeom>
            <a:avLst/>
            <a:gdLst/>
            <a:ahLst/>
            <a:cxnLst/>
            <a:rect r="r" b="b" t="t" l="l"/>
            <a:pathLst>
              <a:path h="5579497" w="5589660">
                <a:moveTo>
                  <a:pt x="0" y="0"/>
                </a:moveTo>
                <a:lnTo>
                  <a:pt x="5589660" y="0"/>
                </a:lnTo>
                <a:lnTo>
                  <a:pt x="5589660" y="5579497"/>
                </a:lnTo>
                <a:lnTo>
                  <a:pt x="0" y="5579497"/>
                </a:lnTo>
                <a:lnTo>
                  <a:pt x="0" y="0"/>
                </a:lnTo>
                <a:close/>
              </a:path>
            </a:pathLst>
          </a:custGeom>
          <a:blipFill>
            <a:blip r:embed="rId8"/>
            <a:stretch>
              <a:fillRect l="0" t="0" r="0" b="0"/>
            </a:stretch>
          </a:blipFill>
        </p:spPr>
      </p:sp>
      <p:sp>
        <p:nvSpPr>
          <p:cNvPr name="Freeform 13" id="13"/>
          <p:cNvSpPr/>
          <p:nvPr/>
        </p:nvSpPr>
        <p:spPr>
          <a:xfrm flipH="false" flipV="false" rot="0">
            <a:off x="12875265" y="3899414"/>
            <a:ext cx="5589660" cy="5579497"/>
          </a:xfrm>
          <a:custGeom>
            <a:avLst/>
            <a:gdLst/>
            <a:ahLst/>
            <a:cxnLst/>
            <a:rect r="r" b="b" t="t" l="l"/>
            <a:pathLst>
              <a:path h="5579497" w="5589660">
                <a:moveTo>
                  <a:pt x="0" y="0"/>
                </a:moveTo>
                <a:lnTo>
                  <a:pt x="5589660" y="0"/>
                </a:lnTo>
                <a:lnTo>
                  <a:pt x="5589660" y="5579497"/>
                </a:lnTo>
                <a:lnTo>
                  <a:pt x="0" y="5579497"/>
                </a:lnTo>
                <a:lnTo>
                  <a:pt x="0" y="0"/>
                </a:lnTo>
                <a:close/>
              </a:path>
            </a:pathLst>
          </a:custGeom>
          <a:blipFill>
            <a:blip r:embed="rId8"/>
            <a:stretch>
              <a:fillRect l="0" t="0" r="0" b="0"/>
            </a:stretch>
          </a:blipFill>
        </p:spPr>
      </p:sp>
      <p:sp>
        <p:nvSpPr>
          <p:cNvPr name="Freeform 14" id="14"/>
          <p:cNvSpPr/>
          <p:nvPr/>
        </p:nvSpPr>
        <p:spPr>
          <a:xfrm flipH="true" flipV="true" rot="5400000">
            <a:off x="3980665" y="8351238"/>
            <a:ext cx="1375437" cy="1814125"/>
          </a:xfrm>
          <a:custGeom>
            <a:avLst/>
            <a:gdLst/>
            <a:ahLst/>
            <a:cxnLst/>
            <a:rect r="r" b="b" t="t" l="l"/>
            <a:pathLst>
              <a:path h="1814125" w="1375437">
                <a:moveTo>
                  <a:pt x="1375436" y="1814124"/>
                </a:moveTo>
                <a:lnTo>
                  <a:pt x="0" y="1814124"/>
                </a:lnTo>
                <a:lnTo>
                  <a:pt x="0" y="0"/>
                </a:lnTo>
                <a:lnTo>
                  <a:pt x="1375436" y="0"/>
                </a:lnTo>
                <a:lnTo>
                  <a:pt x="1375436" y="181412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0">
            <a:off x="15670095" y="7668868"/>
            <a:ext cx="1849220" cy="1849220"/>
          </a:xfrm>
          <a:custGeom>
            <a:avLst/>
            <a:gdLst/>
            <a:ahLst/>
            <a:cxnLst/>
            <a:rect r="r" b="b" t="t" l="l"/>
            <a:pathLst>
              <a:path h="1849220" w="1849220">
                <a:moveTo>
                  <a:pt x="0" y="0"/>
                </a:moveTo>
                <a:lnTo>
                  <a:pt x="1849219" y="0"/>
                </a:lnTo>
                <a:lnTo>
                  <a:pt x="1849219" y="1849219"/>
                </a:lnTo>
                <a:lnTo>
                  <a:pt x="0" y="184921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2898891" y="7746402"/>
            <a:ext cx="1121840" cy="422199"/>
          </a:xfrm>
          <a:custGeom>
            <a:avLst/>
            <a:gdLst/>
            <a:ahLst/>
            <a:cxnLst/>
            <a:rect r="r" b="b" t="t" l="l"/>
            <a:pathLst>
              <a:path h="422199" w="1121840">
                <a:moveTo>
                  <a:pt x="0" y="0"/>
                </a:moveTo>
                <a:lnTo>
                  <a:pt x="1121841" y="0"/>
                </a:lnTo>
                <a:lnTo>
                  <a:pt x="1121841" y="422199"/>
                </a:lnTo>
                <a:lnTo>
                  <a:pt x="0" y="422199"/>
                </a:lnTo>
                <a:lnTo>
                  <a:pt x="0" y="0"/>
                </a:lnTo>
                <a:close/>
              </a:path>
            </a:pathLst>
          </a:custGeom>
          <a:blipFill>
            <a:blip r:embed="rId9">
              <a:extLst>
                <a:ext uri="{96DAC541-7B7A-43D3-8B79-37D633B846F1}">
                  <asvg:svgBlip xmlns:asvg="http://schemas.microsoft.com/office/drawing/2016/SVG/main" r:embed="rId10"/>
                </a:ext>
              </a:extLst>
            </a:blip>
            <a:stretch>
              <a:fillRect l="0" t="-360269" r="-71960" b="0"/>
            </a:stretch>
          </a:blipFill>
        </p:spPr>
      </p:sp>
      <p:sp>
        <p:nvSpPr>
          <p:cNvPr name="Freeform 17" id="17"/>
          <p:cNvSpPr/>
          <p:nvPr/>
        </p:nvSpPr>
        <p:spPr>
          <a:xfrm flipH="false" flipV="false" rot="0">
            <a:off x="2889770" y="1482423"/>
            <a:ext cx="1121840" cy="422199"/>
          </a:xfrm>
          <a:custGeom>
            <a:avLst/>
            <a:gdLst/>
            <a:ahLst/>
            <a:cxnLst/>
            <a:rect r="r" b="b" t="t" l="l"/>
            <a:pathLst>
              <a:path h="422199" w="1121840">
                <a:moveTo>
                  <a:pt x="0" y="0"/>
                </a:moveTo>
                <a:lnTo>
                  <a:pt x="1121840" y="0"/>
                </a:lnTo>
                <a:lnTo>
                  <a:pt x="1121840" y="422199"/>
                </a:lnTo>
                <a:lnTo>
                  <a:pt x="0" y="422199"/>
                </a:lnTo>
                <a:lnTo>
                  <a:pt x="0" y="0"/>
                </a:lnTo>
                <a:close/>
              </a:path>
            </a:pathLst>
          </a:custGeom>
          <a:blipFill>
            <a:blip r:embed="rId9">
              <a:extLst>
                <a:ext uri="{96DAC541-7B7A-43D3-8B79-37D633B846F1}">
                  <asvg:svgBlip xmlns:asvg="http://schemas.microsoft.com/office/drawing/2016/SVG/main" r:embed="rId10"/>
                </a:ext>
              </a:extLst>
            </a:blip>
            <a:stretch>
              <a:fillRect l="0" t="-360269" r="-71960" b="0"/>
            </a:stretch>
          </a:blipFill>
        </p:spPr>
      </p:sp>
      <p:sp>
        <p:nvSpPr>
          <p:cNvPr name="TextBox 18" id="18"/>
          <p:cNvSpPr txBox="true"/>
          <p:nvPr/>
        </p:nvSpPr>
        <p:spPr>
          <a:xfrm rot="0">
            <a:off x="3091115" y="2130679"/>
            <a:ext cx="11658484" cy="3934460"/>
          </a:xfrm>
          <a:prstGeom prst="rect">
            <a:avLst/>
          </a:prstGeom>
        </p:spPr>
        <p:txBody>
          <a:bodyPr anchor="t" rtlCol="false" tIns="0" lIns="0" bIns="0" rIns="0">
            <a:spAutoFit/>
          </a:bodyPr>
          <a:lstStyle/>
          <a:p>
            <a:pPr algn="ctr">
              <a:lnSpc>
                <a:spcPts val="7840"/>
              </a:lnSpc>
              <a:spcBef>
                <a:spcPct val="0"/>
              </a:spcBef>
            </a:pPr>
            <a:r>
              <a:rPr lang="en-US" b="true" sz="5600" spc="-274">
                <a:solidFill>
                  <a:srgbClr val="79E920"/>
                </a:solidFill>
                <a:latin typeface="Open Sauce Bold"/>
                <a:ea typeface="Open Sauce Bold"/>
                <a:cs typeface="Open Sauce Bold"/>
                <a:sym typeface="Open Sauce Bold"/>
              </a:rPr>
              <a:t>Byt</a:t>
            </a:r>
            <a:r>
              <a:rPr lang="en-US" b="true" sz="5600" spc="-274">
                <a:solidFill>
                  <a:srgbClr val="79E920"/>
                </a:solidFill>
                <a:latin typeface="Open Sauce Bold"/>
                <a:ea typeface="Open Sauce Bold"/>
                <a:cs typeface="Open Sauce Bold"/>
                <a:sym typeface="Open Sauce Bold"/>
              </a:rPr>
              <a:t>ewise Online Autoregressive (BOA) Constrictor for HEP d</a:t>
            </a:r>
            <a:r>
              <a:rPr lang="en-US" b="true" sz="5600" spc="-274">
                <a:solidFill>
                  <a:srgbClr val="79E920"/>
                </a:solidFill>
                <a:latin typeface="Open Sauce Bold"/>
                <a:ea typeface="Open Sauce Bold"/>
                <a:cs typeface="Open Sauce Bold"/>
                <a:sym typeface="Open Sauce Bold"/>
              </a:rPr>
              <a:t>ata compression</a:t>
            </a:r>
          </a:p>
          <a:p>
            <a:pPr algn="ctr">
              <a:lnSpc>
                <a:spcPts val="7840"/>
              </a:lnSpc>
              <a:spcBef>
                <a:spcPct val="0"/>
              </a:spcBef>
            </a:pPr>
          </a:p>
        </p:txBody>
      </p:sp>
      <p:sp>
        <p:nvSpPr>
          <p:cNvPr name="TextBox 19" id="19"/>
          <p:cNvSpPr txBox="true"/>
          <p:nvPr/>
        </p:nvSpPr>
        <p:spPr>
          <a:xfrm rot="0">
            <a:off x="5371485" y="5352669"/>
            <a:ext cx="7097744" cy="712470"/>
          </a:xfrm>
          <a:prstGeom prst="rect">
            <a:avLst/>
          </a:prstGeom>
        </p:spPr>
        <p:txBody>
          <a:bodyPr anchor="t" rtlCol="false" tIns="0" lIns="0" bIns="0" rIns="0">
            <a:spAutoFit/>
          </a:bodyPr>
          <a:lstStyle/>
          <a:p>
            <a:pPr algn="ctr">
              <a:lnSpc>
                <a:spcPts val="5880"/>
              </a:lnSpc>
              <a:spcBef>
                <a:spcPct val="0"/>
              </a:spcBef>
            </a:pPr>
            <a:r>
              <a:rPr lang="en-US" b="true" sz="4200" spc="-205">
                <a:solidFill>
                  <a:srgbClr val="FFFFFF"/>
                </a:solidFill>
                <a:latin typeface="Open Sauce Bold"/>
                <a:ea typeface="Open Sauce Bold"/>
                <a:cs typeface="Open Sauce Bold"/>
                <a:sym typeface="Open Sauce Bold"/>
              </a:rPr>
              <a:t>Evaluation Task</a:t>
            </a:r>
          </a:p>
        </p:txBody>
      </p:sp>
      <p:sp>
        <p:nvSpPr>
          <p:cNvPr name="TextBox 20" id="20"/>
          <p:cNvSpPr txBox="true"/>
          <p:nvPr/>
        </p:nvSpPr>
        <p:spPr>
          <a:xfrm rot="0">
            <a:off x="7057147" y="7059192"/>
            <a:ext cx="4173706" cy="547370"/>
          </a:xfrm>
          <a:prstGeom prst="rect">
            <a:avLst/>
          </a:prstGeom>
        </p:spPr>
        <p:txBody>
          <a:bodyPr anchor="t" rtlCol="false" tIns="0" lIns="0" bIns="0" rIns="0">
            <a:spAutoFit/>
          </a:bodyPr>
          <a:lstStyle/>
          <a:p>
            <a:pPr algn="ctr">
              <a:lnSpc>
                <a:spcPts val="4480"/>
              </a:lnSpc>
              <a:spcBef>
                <a:spcPct val="0"/>
              </a:spcBef>
            </a:pPr>
            <a:r>
              <a:rPr lang="en-US" b="true" sz="3200" spc="-96">
                <a:solidFill>
                  <a:srgbClr val="000000"/>
                </a:solidFill>
                <a:latin typeface="Public Sans Bold"/>
                <a:ea typeface="Public Sans Bold"/>
                <a:cs typeface="Public Sans Bold"/>
                <a:sym typeface="Public Sans Bold"/>
              </a:rPr>
              <a:t>-Aditya Bhattacharya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C2C2C">
                <a:alpha val="100000"/>
              </a:srgbClr>
            </a:gs>
            <a:gs pos="100000">
              <a:srgbClr val="000000">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true" rot="0">
            <a:off x="16680530" y="-1539550"/>
            <a:ext cx="3203309" cy="5136501"/>
          </a:xfrm>
          <a:custGeom>
            <a:avLst/>
            <a:gdLst/>
            <a:ahLst/>
            <a:cxnLst/>
            <a:rect r="r" b="b" t="t" l="l"/>
            <a:pathLst>
              <a:path h="5136501" w="3203309">
                <a:moveTo>
                  <a:pt x="0" y="5136500"/>
                </a:moveTo>
                <a:lnTo>
                  <a:pt x="3203309" y="5136500"/>
                </a:lnTo>
                <a:lnTo>
                  <a:pt x="3203309" y="0"/>
                </a:lnTo>
                <a:lnTo>
                  <a:pt x="0" y="0"/>
                </a:lnTo>
                <a:lnTo>
                  <a:pt x="0" y="51365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595839" y="-1539550"/>
            <a:ext cx="3203309" cy="5136501"/>
          </a:xfrm>
          <a:custGeom>
            <a:avLst/>
            <a:gdLst/>
            <a:ahLst/>
            <a:cxnLst/>
            <a:rect r="r" b="b" t="t" l="l"/>
            <a:pathLst>
              <a:path h="5136501" w="3203309">
                <a:moveTo>
                  <a:pt x="3203309" y="5136500"/>
                </a:moveTo>
                <a:lnTo>
                  <a:pt x="0" y="5136500"/>
                </a:lnTo>
                <a:lnTo>
                  <a:pt x="0" y="0"/>
                </a:lnTo>
                <a:lnTo>
                  <a:pt x="3203309" y="0"/>
                </a:lnTo>
                <a:lnTo>
                  <a:pt x="3203309" y="51365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5400000">
            <a:off x="525138" y="8469570"/>
            <a:ext cx="1196001" cy="1577460"/>
          </a:xfrm>
          <a:custGeom>
            <a:avLst/>
            <a:gdLst/>
            <a:ahLst/>
            <a:cxnLst/>
            <a:rect r="r" b="b" t="t" l="l"/>
            <a:pathLst>
              <a:path h="1577460" w="1196001">
                <a:moveTo>
                  <a:pt x="1196001" y="1577460"/>
                </a:moveTo>
                <a:lnTo>
                  <a:pt x="0" y="1577460"/>
                </a:lnTo>
                <a:lnTo>
                  <a:pt x="0" y="0"/>
                </a:lnTo>
                <a:lnTo>
                  <a:pt x="1196001" y="0"/>
                </a:lnTo>
                <a:lnTo>
                  <a:pt x="1196001" y="157746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400000">
            <a:off x="16386928" y="8477155"/>
            <a:ext cx="1196001" cy="1577460"/>
          </a:xfrm>
          <a:custGeom>
            <a:avLst/>
            <a:gdLst/>
            <a:ahLst/>
            <a:cxnLst/>
            <a:rect r="r" b="b" t="t" l="l"/>
            <a:pathLst>
              <a:path h="1577460" w="1196001">
                <a:moveTo>
                  <a:pt x="0" y="0"/>
                </a:moveTo>
                <a:lnTo>
                  <a:pt x="1196001" y="0"/>
                </a:lnTo>
                <a:lnTo>
                  <a:pt x="1196001" y="1577459"/>
                </a:lnTo>
                <a:lnTo>
                  <a:pt x="0" y="15774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3780069" y="249556"/>
            <a:ext cx="9181688" cy="1500504"/>
          </a:xfrm>
          <a:prstGeom prst="rect">
            <a:avLst/>
          </a:prstGeom>
        </p:spPr>
        <p:txBody>
          <a:bodyPr anchor="t" rtlCol="false" tIns="0" lIns="0" bIns="0" rIns="0">
            <a:spAutoFit/>
          </a:bodyPr>
          <a:lstStyle/>
          <a:p>
            <a:pPr algn="l">
              <a:lnSpc>
                <a:spcPts val="6020"/>
              </a:lnSpc>
              <a:spcBef>
                <a:spcPct val="0"/>
              </a:spcBef>
            </a:pPr>
            <a:r>
              <a:rPr lang="en-US" b="true" sz="4300" spc="-210">
                <a:solidFill>
                  <a:srgbClr val="FFFFFF"/>
                </a:solidFill>
                <a:latin typeface="Open Sauce Bold"/>
                <a:ea typeface="Open Sauce Bold"/>
                <a:cs typeface="Open Sauce Bold"/>
                <a:sym typeface="Open Sauce Bold"/>
              </a:rPr>
              <a:t>What The need for data compression in </a:t>
            </a:r>
          </a:p>
        </p:txBody>
      </p:sp>
      <p:sp>
        <p:nvSpPr>
          <p:cNvPr name="TextBox 7" id="7"/>
          <p:cNvSpPr txBox="true"/>
          <p:nvPr/>
        </p:nvSpPr>
        <p:spPr>
          <a:xfrm rot="0">
            <a:off x="8370914" y="918846"/>
            <a:ext cx="7253532" cy="1038225"/>
          </a:xfrm>
          <a:prstGeom prst="rect">
            <a:avLst/>
          </a:prstGeom>
        </p:spPr>
        <p:txBody>
          <a:bodyPr anchor="t" rtlCol="false" tIns="0" lIns="0" bIns="0" rIns="0">
            <a:spAutoFit/>
          </a:bodyPr>
          <a:lstStyle/>
          <a:p>
            <a:pPr algn="l">
              <a:lnSpc>
                <a:spcPts val="8400"/>
              </a:lnSpc>
              <a:spcBef>
                <a:spcPct val="0"/>
              </a:spcBef>
            </a:pPr>
            <a:r>
              <a:rPr lang="en-US" b="true" sz="6000" spc="-294">
                <a:solidFill>
                  <a:srgbClr val="79E920"/>
                </a:solidFill>
                <a:latin typeface="Open Sauce Bold"/>
                <a:ea typeface="Open Sauce Bold"/>
                <a:cs typeface="Open Sauce Bold"/>
                <a:sym typeface="Open Sauce Bold"/>
              </a:rPr>
              <a:t>high e</a:t>
            </a:r>
            <a:r>
              <a:rPr lang="en-US" b="true" sz="6000" spc="-294">
                <a:solidFill>
                  <a:srgbClr val="79E920"/>
                </a:solidFill>
                <a:latin typeface="Open Sauce Bold"/>
                <a:ea typeface="Open Sauce Bold"/>
                <a:cs typeface="Open Sauce Bold"/>
                <a:sym typeface="Open Sauce Bold"/>
              </a:rPr>
              <a:t>nergy physics</a:t>
            </a:r>
          </a:p>
        </p:txBody>
      </p:sp>
      <p:sp>
        <p:nvSpPr>
          <p:cNvPr name="TextBox 8" id="8"/>
          <p:cNvSpPr txBox="true"/>
          <p:nvPr/>
        </p:nvSpPr>
        <p:spPr>
          <a:xfrm rot="0">
            <a:off x="1028700" y="2356795"/>
            <a:ext cx="16744958" cy="882015"/>
          </a:xfrm>
          <a:prstGeom prst="rect">
            <a:avLst/>
          </a:prstGeom>
        </p:spPr>
        <p:txBody>
          <a:bodyPr anchor="t" rtlCol="false" tIns="0" lIns="0" bIns="0" rIns="0">
            <a:spAutoFit/>
          </a:bodyPr>
          <a:lstStyle/>
          <a:p>
            <a:pPr algn="l">
              <a:lnSpc>
                <a:spcPts val="2340"/>
              </a:lnSpc>
            </a:pPr>
            <a:r>
              <a:rPr lang="en-US" sz="1800">
                <a:solidFill>
                  <a:srgbClr val="FFFFFF"/>
                </a:solidFill>
                <a:latin typeface="Public Sans"/>
                <a:ea typeface="Public Sans"/>
                <a:cs typeface="Public Sans"/>
                <a:sym typeface="Public Sans"/>
              </a:rPr>
              <a:t>Th</a:t>
            </a:r>
            <a:r>
              <a:rPr lang="en-US" sz="1800">
                <a:solidFill>
                  <a:srgbClr val="FFFFFF"/>
                </a:solidFill>
                <a:latin typeface="Public Sans"/>
                <a:ea typeface="Public Sans"/>
                <a:cs typeface="Public Sans"/>
                <a:sym typeface="Public Sans"/>
              </a:rPr>
              <a:t>e need for data compression in High-Energy Physics (HEP) arises from the enormous volume of data produced by modern particle detectors, such as those used at CERN. These detectors record signals from billions of particle interactions every second, generating petabytes of raw data annually. Efficient compression is therefore essential for storage, transmission, and analysis.</a:t>
            </a:r>
          </a:p>
        </p:txBody>
      </p:sp>
      <p:sp>
        <p:nvSpPr>
          <p:cNvPr name="Freeform 9" id="9"/>
          <p:cNvSpPr/>
          <p:nvPr/>
        </p:nvSpPr>
        <p:spPr>
          <a:xfrm flipH="false" flipV="false" rot="0">
            <a:off x="8583080" y="9258300"/>
            <a:ext cx="1121840" cy="422199"/>
          </a:xfrm>
          <a:custGeom>
            <a:avLst/>
            <a:gdLst/>
            <a:ahLst/>
            <a:cxnLst/>
            <a:rect r="r" b="b" t="t" l="l"/>
            <a:pathLst>
              <a:path h="422199" w="1121840">
                <a:moveTo>
                  <a:pt x="0" y="0"/>
                </a:moveTo>
                <a:lnTo>
                  <a:pt x="1121840" y="0"/>
                </a:lnTo>
                <a:lnTo>
                  <a:pt x="1121840" y="422199"/>
                </a:lnTo>
                <a:lnTo>
                  <a:pt x="0" y="422199"/>
                </a:lnTo>
                <a:lnTo>
                  <a:pt x="0" y="0"/>
                </a:lnTo>
                <a:close/>
              </a:path>
            </a:pathLst>
          </a:custGeom>
          <a:blipFill>
            <a:blip r:embed="rId6">
              <a:extLst>
                <a:ext uri="{96DAC541-7B7A-43D3-8B79-37D633B846F1}">
                  <asvg:svgBlip xmlns:asvg="http://schemas.microsoft.com/office/drawing/2016/SVG/main" r:embed="rId7"/>
                </a:ext>
              </a:extLst>
            </a:blip>
            <a:stretch>
              <a:fillRect l="0" t="-360269" r="-71960" b="0"/>
            </a:stretch>
          </a:blipFill>
        </p:spPr>
      </p:sp>
      <p:sp>
        <p:nvSpPr>
          <p:cNvPr name="TextBox 10" id="10"/>
          <p:cNvSpPr txBox="true"/>
          <p:nvPr/>
        </p:nvSpPr>
        <p:spPr>
          <a:xfrm rot="0">
            <a:off x="1028700" y="4358130"/>
            <a:ext cx="7856572" cy="2233295"/>
          </a:xfrm>
          <a:prstGeom prst="rect">
            <a:avLst/>
          </a:prstGeom>
        </p:spPr>
        <p:txBody>
          <a:bodyPr anchor="t" rtlCol="false" tIns="0" lIns="0" bIns="0" rIns="0">
            <a:spAutoFit/>
          </a:bodyPr>
          <a:lstStyle/>
          <a:p>
            <a:pPr algn="l">
              <a:lnSpc>
                <a:spcPts val="2519"/>
              </a:lnSpc>
              <a:spcBef>
                <a:spcPct val="0"/>
              </a:spcBef>
            </a:pPr>
            <a:r>
              <a:rPr lang="en-US" b="true" sz="1799">
                <a:solidFill>
                  <a:srgbClr val="FFFFFF"/>
                </a:solidFill>
                <a:latin typeface="Canva Sans Bold"/>
                <a:ea typeface="Canva Sans Bold"/>
                <a:cs typeface="Canva Sans Bold"/>
                <a:sym typeface="Canva Sans Bold"/>
              </a:rPr>
              <a:t>Maintaining Bit-Exact Scientific Fidelity</a:t>
            </a:r>
          </a:p>
          <a:p>
            <a:pPr algn="l">
              <a:lnSpc>
                <a:spcPts val="2239"/>
              </a:lnSpc>
              <a:spcBef>
                <a:spcPct val="0"/>
              </a:spcBef>
            </a:pPr>
          </a:p>
          <a:p>
            <a:pPr algn="l">
              <a:lnSpc>
                <a:spcPts val="2239"/>
              </a:lnSpc>
              <a:spcBef>
                <a:spcPct val="0"/>
              </a:spcBef>
            </a:pPr>
            <a:r>
              <a:rPr lang="en-US" sz="1599">
                <a:solidFill>
                  <a:srgbClr val="FFFFFF"/>
                </a:solidFill>
                <a:latin typeface="Canva Sans"/>
                <a:ea typeface="Canva Sans"/>
                <a:cs typeface="Canva Sans"/>
                <a:sym typeface="Canva Sans"/>
              </a:rPr>
              <a:t>Unlike multimedia compression, HEP requires lossless compression.</a:t>
            </a:r>
          </a:p>
          <a:p>
            <a:pPr algn="l">
              <a:lnSpc>
                <a:spcPts val="2239"/>
              </a:lnSpc>
              <a:spcBef>
                <a:spcPct val="0"/>
              </a:spcBef>
            </a:pPr>
          </a:p>
          <a:p>
            <a:pPr algn="l">
              <a:lnSpc>
                <a:spcPts val="2239"/>
              </a:lnSpc>
              <a:spcBef>
                <a:spcPct val="0"/>
              </a:spcBef>
            </a:pPr>
            <a:r>
              <a:rPr lang="en-US" b="true" sz="1599">
                <a:solidFill>
                  <a:srgbClr val="FFFFFF"/>
                </a:solidFill>
                <a:latin typeface="Canva Sans Bold"/>
                <a:ea typeface="Canva Sans Bold"/>
                <a:cs typeface="Canva Sans Bold"/>
                <a:sym typeface="Canva Sans Bold"/>
              </a:rPr>
              <a:t>Reasons:</a:t>
            </a:r>
          </a:p>
          <a:p>
            <a:pPr algn="l" marL="345439" indent="-172720" lvl="1">
              <a:lnSpc>
                <a:spcPts val="2239"/>
              </a:lnSpc>
              <a:buFont typeface="Arial"/>
              <a:buChar char="•"/>
            </a:pPr>
            <a:r>
              <a:rPr lang="en-US" sz="1599">
                <a:solidFill>
                  <a:srgbClr val="FFFFFF"/>
                </a:solidFill>
                <a:latin typeface="Canva Sans"/>
                <a:ea typeface="Canva Sans"/>
                <a:cs typeface="Canva Sans"/>
                <a:sym typeface="Canva Sans"/>
              </a:rPr>
              <a:t>Physics analysis depends on exact detector signals.</a:t>
            </a:r>
          </a:p>
          <a:p>
            <a:pPr algn="l" marL="345439" indent="-172720" lvl="1">
              <a:lnSpc>
                <a:spcPts val="2239"/>
              </a:lnSpc>
              <a:buFont typeface="Arial"/>
              <a:buChar char="•"/>
            </a:pPr>
            <a:r>
              <a:rPr lang="en-US" sz="1599">
                <a:solidFill>
                  <a:srgbClr val="FFFFFF"/>
                </a:solidFill>
                <a:latin typeface="Canva Sans"/>
                <a:ea typeface="Canva Sans"/>
                <a:cs typeface="Canva Sans"/>
                <a:sym typeface="Canva Sans"/>
              </a:rPr>
              <a:t>Any alteration could change reconstructed particle properties.</a:t>
            </a:r>
          </a:p>
          <a:p>
            <a:pPr algn="l" marL="345439" indent="-172720" lvl="1">
              <a:lnSpc>
                <a:spcPts val="2239"/>
              </a:lnSpc>
              <a:buFont typeface="Arial"/>
              <a:buChar char="•"/>
            </a:pPr>
            <a:r>
              <a:rPr lang="en-US" sz="1599">
                <a:solidFill>
                  <a:srgbClr val="FFFFFF"/>
                </a:solidFill>
                <a:latin typeface="Canva Sans"/>
                <a:ea typeface="Canva Sans"/>
                <a:cs typeface="Canva Sans"/>
                <a:sym typeface="Canva Sans"/>
              </a:rPr>
              <a:t>Experimental results must remain reproducible.</a:t>
            </a:r>
          </a:p>
        </p:txBody>
      </p:sp>
      <p:sp>
        <p:nvSpPr>
          <p:cNvPr name="TextBox 11" id="11"/>
          <p:cNvSpPr txBox="true"/>
          <p:nvPr/>
        </p:nvSpPr>
        <p:spPr>
          <a:xfrm rot="0">
            <a:off x="8628628" y="4197025"/>
            <a:ext cx="8666260" cy="3440430"/>
          </a:xfrm>
          <a:prstGeom prst="rect">
            <a:avLst/>
          </a:prstGeom>
        </p:spPr>
        <p:txBody>
          <a:bodyPr anchor="t" rtlCol="false" tIns="0" lIns="0" bIns="0" rIns="0">
            <a:spAutoFit/>
          </a:bodyPr>
          <a:lstStyle/>
          <a:p>
            <a:pPr algn="l">
              <a:lnSpc>
                <a:spcPts val="2519"/>
              </a:lnSpc>
              <a:spcBef>
                <a:spcPct val="0"/>
              </a:spcBef>
            </a:pPr>
            <a:r>
              <a:rPr lang="en-US" b="true" sz="1799">
                <a:solidFill>
                  <a:srgbClr val="FFFFFF"/>
                </a:solidFill>
                <a:latin typeface="Canva Sans Bold"/>
                <a:ea typeface="Canva Sans Bold"/>
                <a:cs typeface="Canva Sans Bold"/>
                <a:sym typeface="Canva Sans Bold"/>
              </a:rPr>
              <a:t>Efficient Storage and Archival</a:t>
            </a:r>
          </a:p>
          <a:p>
            <a:pPr algn="l">
              <a:lnSpc>
                <a:spcPts val="2519"/>
              </a:lnSpc>
              <a:spcBef>
                <a:spcPct val="0"/>
              </a:spcBef>
            </a:pPr>
          </a:p>
          <a:p>
            <a:pPr algn="l">
              <a:lnSpc>
                <a:spcPts val="2519"/>
              </a:lnSpc>
              <a:spcBef>
                <a:spcPct val="0"/>
              </a:spcBef>
            </a:pPr>
            <a:r>
              <a:rPr lang="en-US" sz="1799">
                <a:solidFill>
                  <a:srgbClr val="FFFFFF"/>
                </a:solidFill>
                <a:latin typeface="Canva Sans"/>
                <a:ea typeface="Canva Sans"/>
                <a:cs typeface="Canva Sans"/>
                <a:sym typeface="Canva Sans"/>
              </a:rPr>
              <a:t>Raw detector streams typically have high redundancy and structured patterns due to the physical design of the detectors.</a:t>
            </a:r>
          </a:p>
          <a:p>
            <a:pPr algn="l">
              <a:lnSpc>
                <a:spcPts val="2519"/>
              </a:lnSpc>
              <a:spcBef>
                <a:spcPct val="0"/>
              </a:spcBef>
            </a:pPr>
          </a:p>
          <a:p>
            <a:pPr algn="l">
              <a:lnSpc>
                <a:spcPts val="2519"/>
              </a:lnSpc>
              <a:spcBef>
                <a:spcPct val="0"/>
              </a:spcBef>
            </a:pPr>
            <a:r>
              <a:rPr lang="en-US" b="true" sz="1799">
                <a:solidFill>
                  <a:srgbClr val="FFFFFF"/>
                </a:solidFill>
                <a:latin typeface="Canva Sans Bold"/>
                <a:ea typeface="Canva Sans Bold"/>
                <a:cs typeface="Canva Sans Bold"/>
                <a:sym typeface="Canva Sans Bold"/>
              </a:rPr>
              <a:t>Compression helps:</a:t>
            </a:r>
          </a:p>
          <a:p>
            <a:pPr algn="l" marL="388618" indent="-194309" lvl="1">
              <a:lnSpc>
                <a:spcPts val="2519"/>
              </a:lnSpc>
              <a:buFont typeface="Arial"/>
              <a:buChar char="•"/>
            </a:pPr>
            <a:r>
              <a:rPr lang="en-US" sz="1799">
                <a:solidFill>
                  <a:srgbClr val="FFFFFF"/>
                </a:solidFill>
                <a:latin typeface="Canva Sans"/>
                <a:ea typeface="Canva Sans"/>
                <a:cs typeface="Canva Sans"/>
                <a:sym typeface="Canva Sans"/>
              </a:rPr>
              <a:t>Reduce storage requirements by 80–90%.</a:t>
            </a:r>
          </a:p>
          <a:p>
            <a:pPr algn="l" marL="388618" indent="-194309" lvl="1">
              <a:lnSpc>
                <a:spcPts val="2519"/>
              </a:lnSpc>
              <a:buFont typeface="Arial"/>
              <a:buChar char="•"/>
            </a:pPr>
            <a:r>
              <a:rPr lang="en-US" sz="1799">
                <a:solidFill>
                  <a:srgbClr val="FFFFFF"/>
                </a:solidFill>
                <a:latin typeface="Canva Sans"/>
                <a:ea typeface="Canva Sans"/>
                <a:cs typeface="Canva Sans"/>
                <a:sym typeface="Canva Sans"/>
              </a:rPr>
              <a:t>Allow large datasets to be archived for future re-analysis.</a:t>
            </a:r>
          </a:p>
          <a:p>
            <a:pPr algn="l" marL="388618" indent="-194309" lvl="1">
              <a:lnSpc>
                <a:spcPts val="2519"/>
              </a:lnSpc>
              <a:buFont typeface="Arial"/>
              <a:buChar char="•"/>
            </a:pPr>
            <a:r>
              <a:rPr lang="en-US" sz="1799">
                <a:solidFill>
                  <a:srgbClr val="FFFFFF"/>
                </a:solidFill>
                <a:latin typeface="Canva Sans"/>
                <a:ea typeface="Canva Sans"/>
                <a:cs typeface="Canva Sans"/>
                <a:sym typeface="Canva Sans"/>
              </a:rPr>
              <a:t>Lower infrastructure costs for distributed computing centers.</a:t>
            </a:r>
          </a:p>
          <a:p>
            <a:pPr algn="l" marL="388618" indent="-194309" lvl="1">
              <a:lnSpc>
                <a:spcPts val="2519"/>
              </a:lnSpc>
              <a:buFont typeface="Arial"/>
              <a:buChar char="•"/>
            </a:pPr>
            <a:r>
              <a:rPr lang="en-US" sz="1799">
                <a:solidFill>
                  <a:srgbClr val="FFFFFF"/>
                </a:solidFill>
                <a:latin typeface="Canva Sans"/>
                <a:ea typeface="Canva Sans"/>
                <a:cs typeface="Canva Sans"/>
                <a:sym typeface="Canva Sans"/>
              </a:rPr>
              <a:t>For example, achieving 0.92 bits per byte (BPB) instead of storing raw 8 BPB can reduce storage by nearly 90% while keeping data intact.</a:t>
            </a:r>
          </a:p>
        </p:txBody>
      </p:sp>
      <p:sp>
        <p:nvSpPr>
          <p:cNvPr name="TextBox 12" id="12"/>
          <p:cNvSpPr txBox="true"/>
          <p:nvPr/>
        </p:nvSpPr>
        <p:spPr>
          <a:xfrm rot="0">
            <a:off x="2097037" y="8128487"/>
            <a:ext cx="15861790" cy="1025525"/>
          </a:xfrm>
          <a:prstGeom prst="rect">
            <a:avLst/>
          </a:prstGeom>
        </p:spPr>
        <p:txBody>
          <a:bodyPr anchor="t" rtlCol="false" tIns="0" lIns="0" bIns="0" rIns="0">
            <a:spAutoFit/>
          </a:bodyPr>
          <a:lstStyle/>
          <a:p>
            <a:pPr algn="l">
              <a:lnSpc>
                <a:spcPts val="2939"/>
              </a:lnSpc>
            </a:pPr>
            <a:r>
              <a:rPr lang="en-US" b="true" sz="2099">
                <a:solidFill>
                  <a:srgbClr val="79E920"/>
                </a:solidFill>
                <a:latin typeface="Canva Sans Bold"/>
                <a:ea typeface="Canva Sans Bold"/>
                <a:cs typeface="Canva Sans Bold"/>
                <a:sym typeface="Canva Sans Bold"/>
              </a:rPr>
              <a:t>Reducing Environmental and Energy Costs</a:t>
            </a:r>
            <a:r>
              <a:rPr lang="en-US" b="true" sz="2099">
                <a:solidFill>
                  <a:srgbClr val="FFFFFF"/>
                </a:solidFill>
                <a:latin typeface="Canva Sans Bold"/>
                <a:ea typeface="Canva Sans Bold"/>
                <a:cs typeface="Canva Sans Bold"/>
                <a:sym typeface="Canva Sans Bold"/>
              </a:rPr>
              <a:t> :</a:t>
            </a:r>
            <a:r>
              <a:rPr lang="en-US" sz="2099">
                <a:solidFill>
                  <a:srgbClr val="FFFFFF"/>
                </a:solidFill>
                <a:latin typeface="Canva Sans"/>
                <a:ea typeface="Canva Sans"/>
                <a:cs typeface="Canva Sans"/>
                <a:sym typeface="Canva Sans"/>
              </a:rPr>
              <a:t>- Large-scale storage and data movement consume substantial energy.</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Projects increasingly aim for “</a:t>
            </a:r>
            <a:r>
              <a:rPr lang="en-US" sz="1899">
                <a:solidFill>
                  <a:srgbClr val="79E920"/>
                </a:solidFill>
                <a:latin typeface="Canva Sans"/>
                <a:ea typeface="Canva Sans"/>
                <a:cs typeface="Canva Sans"/>
                <a:sym typeface="Canva Sans"/>
              </a:rPr>
              <a:t>green computing</a:t>
            </a:r>
            <a:r>
              <a:rPr lang="en-US" sz="1899">
                <a:solidFill>
                  <a:srgbClr val="FFFFFF"/>
                </a:solidFill>
                <a:latin typeface="Canva Sans"/>
                <a:ea typeface="Canva Sans"/>
                <a:cs typeface="Canva Sans"/>
                <a:sym typeface="Canva Sans"/>
              </a:rPr>
              <a:t>”, where the energy saved by compression exceeds the energy used by the compression model itself.</a:t>
            </a:r>
          </a:p>
        </p:txBody>
      </p:sp>
      <p:sp>
        <p:nvSpPr>
          <p:cNvPr name="TextBox 13" id="13"/>
          <p:cNvSpPr txBox="true"/>
          <p:nvPr/>
        </p:nvSpPr>
        <p:spPr>
          <a:xfrm rot="0">
            <a:off x="2339195" y="3586063"/>
            <a:ext cx="2617791" cy="405765"/>
          </a:xfrm>
          <a:prstGeom prst="rect">
            <a:avLst/>
          </a:prstGeom>
        </p:spPr>
        <p:txBody>
          <a:bodyPr anchor="t" rtlCol="false" tIns="0" lIns="0" bIns="0" rIns="0">
            <a:spAutoFit/>
          </a:bodyPr>
          <a:lstStyle/>
          <a:p>
            <a:pPr algn="l">
              <a:lnSpc>
                <a:spcPts val="3359"/>
              </a:lnSpc>
              <a:spcBef>
                <a:spcPct val="0"/>
              </a:spcBef>
            </a:pPr>
            <a:r>
              <a:rPr lang="en-US" b="true" sz="2399" spc="-117">
                <a:solidFill>
                  <a:srgbClr val="79E920"/>
                </a:solidFill>
                <a:latin typeface="Open Sauce Bold"/>
                <a:ea typeface="Open Sauce Bold"/>
                <a:cs typeface="Open Sauce Bold"/>
                <a:sym typeface="Open Sauce Bold"/>
              </a:rPr>
              <a:t>The Why ?</a:t>
            </a:r>
          </a:p>
        </p:txBody>
      </p:sp>
      <p:sp>
        <p:nvSpPr>
          <p:cNvPr name="TextBox 14" id="14"/>
          <p:cNvSpPr txBox="true"/>
          <p:nvPr/>
        </p:nvSpPr>
        <p:spPr>
          <a:xfrm rot="0">
            <a:off x="9842763" y="3406992"/>
            <a:ext cx="3913973" cy="405765"/>
          </a:xfrm>
          <a:prstGeom prst="rect">
            <a:avLst/>
          </a:prstGeom>
        </p:spPr>
        <p:txBody>
          <a:bodyPr anchor="t" rtlCol="false" tIns="0" lIns="0" bIns="0" rIns="0">
            <a:spAutoFit/>
          </a:bodyPr>
          <a:lstStyle/>
          <a:p>
            <a:pPr algn="l">
              <a:lnSpc>
                <a:spcPts val="3359"/>
              </a:lnSpc>
              <a:spcBef>
                <a:spcPct val="0"/>
              </a:spcBef>
            </a:pPr>
            <a:r>
              <a:rPr lang="en-US" b="true" sz="2399" spc="-117">
                <a:solidFill>
                  <a:srgbClr val="79E920"/>
                </a:solidFill>
                <a:latin typeface="Open Sauce Bold"/>
                <a:ea typeface="Open Sauce Bold"/>
                <a:cs typeface="Open Sauce Bold"/>
                <a:sym typeface="Open Sauce Bold"/>
              </a:rPr>
              <a:t>The Cause &amp; Benefits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true" rot="0">
            <a:off x="16680530" y="-1539550"/>
            <a:ext cx="3203309" cy="5136501"/>
          </a:xfrm>
          <a:custGeom>
            <a:avLst/>
            <a:gdLst/>
            <a:ahLst/>
            <a:cxnLst/>
            <a:rect r="r" b="b" t="t" l="l"/>
            <a:pathLst>
              <a:path h="5136501" w="3203309">
                <a:moveTo>
                  <a:pt x="0" y="5136500"/>
                </a:moveTo>
                <a:lnTo>
                  <a:pt x="3203309" y="5136500"/>
                </a:lnTo>
                <a:lnTo>
                  <a:pt x="3203309" y="0"/>
                </a:lnTo>
                <a:lnTo>
                  <a:pt x="0" y="0"/>
                </a:lnTo>
                <a:lnTo>
                  <a:pt x="0" y="51365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595839" y="-1539550"/>
            <a:ext cx="3203309" cy="5136501"/>
          </a:xfrm>
          <a:custGeom>
            <a:avLst/>
            <a:gdLst/>
            <a:ahLst/>
            <a:cxnLst/>
            <a:rect r="r" b="b" t="t" l="l"/>
            <a:pathLst>
              <a:path h="5136501" w="3203309">
                <a:moveTo>
                  <a:pt x="3203309" y="5136500"/>
                </a:moveTo>
                <a:lnTo>
                  <a:pt x="0" y="5136500"/>
                </a:lnTo>
                <a:lnTo>
                  <a:pt x="0" y="0"/>
                </a:lnTo>
                <a:lnTo>
                  <a:pt x="3203309" y="0"/>
                </a:lnTo>
                <a:lnTo>
                  <a:pt x="3203309" y="51365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5400000">
            <a:off x="430699" y="8680670"/>
            <a:ext cx="1196001" cy="1577460"/>
          </a:xfrm>
          <a:custGeom>
            <a:avLst/>
            <a:gdLst/>
            <a:ahLst/>
            <a:cxnLst/>
            <a:rect r="r" b="b" t="t" l="l"/>
            <a:pathLst>
              <a:path h="1577460" w="1196001">
                <a:moveTo>
                  <a:pt x="1196002" y="1577459"/>
                </a:moveTo>
                <a:lnTo>
                  <a:pt x="0" y="1577459"/>
                </a:lnTo>
                <a:lnTo>
                  <a:pt x="0" y="0"/>
                </a:lnTo>
                <a:lnTo>
                  <a:pt x="1196002" y="0"/>
                </a:lnTo>
                <a:lnTo>
                  <a:pt x="1196002" y="15774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400000">
            <a:off x="16661299" y="8680670"/>
            <a:ext cx="1196001" cy="1577460"/>
          </a:xfrm>
          <a:custGeom>
            <a:avLst/>
            <a:gdLst/>
            <a:ahLst/>
            <a:cxnLst/>
            <a:rect r="r" b="b" t="t" l="l"/>
            <a:pathLst>
              <a:path h="1577460" w="1196001">
                <a:moveTo>
                  <a:pt x="0" y="0"/>
                </a:moveTo>
                <a:lnTo>
                  <a:pt x="1196002" y="0"/>
                </a:lnTo>
                <a:lnTo>
                  <a:pt x="1196002" y="1577459"/>
                </a:lnTo>
                <a:lnTo>
                  <a:pt x="0" y="15774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9144000" y="9469400"/>
            <a:ext cx="1121840" cy="422199"/>
          </a:xfrm>
          <a:custGeom>
            <a:avLst/>
            <a:gdLst/>
            <a:ahLst/>
            <a:cxnLst/>
            <a:rect r="r" b="b" t="t" l="l"/>
            <a:pathLst>
              <a:path h="422199" w="1121840">
                <a:moveTo>
                  <a:pt x="0" y="0"/>
                </a:moveTo>
                <a:lnTo>
                  <a:pt x="1121840" y="0"/>
                </a:lnTo>
                <a:lnTo>
                  <a:pt x="1121840" y="422199"/>
                </a:lnTo>
                <a:lnTo>
                  <a:pt x="0" y="422199"/>
                </a:lnTo>
                <a:lnTo>
                  <a:pt x="0" y="0"/>
                </a:lnTo>
                <a:close/>
              </a:path>
            </a:pathLst>
          </a:custGeom>
          <a:blipFill>
            <a:blip r:embed="rId6">
              <a:extLst>
                <a:ext uri="{96DAC541-7B7A-43D3-8B79-37D633B846F1}">
                  <asvg:svgBlip xmlns:asvg="http://schemas.microsoft.com/office/drawing/2016/SVG/main" r:embed="rId7"/>
                </a:ext>
              </a:extLst>
            </a:blip>
            <a:stretch>
              <a:fillRect l="0" t="-360269" r="-71960" b="0"/>
            </a:stretch>
          </a:blipFill>
        </p:spPr>
      </p:sp>
      <p:sp>
        <p:nvSpPr>
          <p:cNvPr name="TextBox 7" id="7"/>
          <p:cNvSpPr txBox="true"/>
          <p:nvPr/>
        </p:nvSpPr>
        <p:spPr>
          <a:xfrm rot="0">
            <a:off x="3780069" y="249556"/>
            <a:ext cx="9181688" cy="705484"/>
          </a:xfrm>
          <a:prstGeom prst="rect">
            <a:avLst/>
          </a:prstGeom>
        </p:spPr>
        <p:txBody>
          <a:bodyPr anchor="t" rtlCol="false" tIns="0" lIns="0" bIns="0" rIns="0">
            <a:spAutoFit/>
          </a:bodyPr>
          <a:lstStyle/>
          <a:p>
            <a:pPr algn="l">
              <a:lnSpc>
                <a:spcPts val="5740"/>
              </a:lnSpc>
              <a:spcBef>
                <a:spcPct val="0"/>
              </a:spcBef>
            </a:pPr>
            <a:r>
              <a:rPr lang="en-US" b="true" sz="4100" spc="-200">
                <a:solidFill>
                  <a:srgbClr val="FFFFFF"/>
                </a:solidFill>
                <a:latin typeface="Open Sauce Bold"/>
                <a:ea typeface="Open Sauce Bold"/>
                <a:cs typeface="Open Sauce Bold"/>
                <a:sym typeface="Open Sauce Bold"/>
              </a:rPr>
              <a:t>Proposed Solution:</a:t>
            </a:r>
          </a:p>
        </p:txBody>
      </p:sp>
      <p:sp>
        <p:nvSpPr>
          <p:cNvPr name="TextBox 8" id="8"/>
          <p:cNvSpPr txBox="true"/>
          <p:nvPr/>
        </p:nvSpPr>
        <p:spPr>
          <a:xfrm rot="0">
            <a:off x="8583080" y="339726"/>
            <a:ext cx="9064072" cy="688974"/>
          </a:xfrm>
          <a:prstGeom prst="rect">
            <a:avLst/>
          </a:prstGeom>
        </p:spPr>
        <p:txBody>
          <a:bodyPr anchor="t" rtlCol="false" tIns="0" lIns="0" bIns="0" rIns="0">
            <a:spAutoFit/>
          </a:bodyPr>
          <a:lstStyle/>
          <a:p>
            <a:pPr algn="l">
              <a:lnSpc>
                <a:spcPts val="5600"/>
              </a:lnSpc>
              <a:spcBef>
                <a:spcPct val="0"/>
              </a:spcBef>
            </a:pPr>
            <a:r>
              <a:rPr lang="en-US" b="true" sz="4000" spc="-196">
                <a:solidFill>
                  <a:srgbClr val="79E920"/>
                </a:solidFill>
                <a:latin typeface="Open Sauce Bold"/>
                <a:ea typeface="Open Sauce Bold"/>
                <a:cs typeface="Open Sauce Bold"/>
                <a:sym typeface="Open Sauce Bold"/>
              </a:rPr>
              <a:t>HybridPillar++ (Hybrid BOA)</a:t>
            </a:r>
          </a:p>
        </p:txBody>
      </p:sp>
      <p:sp>
        <p:nvSpPr>
          <p:cNvPr name="TextBox 9" id="9"/>
          <p:cNvSpPr txBox="true"/>
          <p:nvPr/>
        </p:nvSpPr>
        <p:spPr>
          <a:xfrm rot="0">
            <a:off x="3907195" y="1226478"/>
            <a:ext cx="11368933" cy="1144903"/>
          </a:xfrm>
          <a:prstGeom prst="rect">
            <a:avLst/>
          </a:prstGeom>
        </p:spPr>
        <p:txBody>
          <a:bodyPr anchor="t" rtlCol="false" tIns="0" lIns="0" bIns="0" rIns="0">
            <a:spAutoFit/>
          </a:bodyPr>
          <a:lstStyle/>
          <a:p>
            <a:pPr algn="ctr">
              <a:lnSpc>
                <a:spcPts val="4900"/>
              </a:lnSpc>
            </a:pPr>
            <a:r>
              <a:rPr lang="en-US" b="true" sz="3500" spc="-171">
                <a:solidFill>
                  <a:srgbClr val="79E920"/>
                </a:solidFill>
                <a:latin typeface="Open Sauce Bold"/>
                <a:ea typeface="Open Sauce Bold"/>
                <a:cs typeface="Open Sauce Bold"/>
                <a:sym typeface="Open Sauce Bold"/>
              </a:rPr>
              <a:t>What &amp; Why need it:</a:t>
            </a:r>
          </a:p>
          <a:p>
            <a:pPr algn="ctr">
              <a:lnSpc>
                <a:spcPts val="4340"/>
              </a:lnSpc>
              <a:spcBef>
                <a:spcPct val="0"/>
              </a:spcBef>
            </a:pPr>
            <a:r>
              <a:rPr lang="en-US" b="true" sz="3100" spc="-151">
                <a:solidFill>
                  <a:srgbClr val="FFFFFF"/>
                </a:solidFill>
                <a:latin typeface="Open Sauce Bold"/>
                <a:ea typeface="Open Sauce Bold"/>
                <a:cs typeface="Open Sauce Bold"/>
                <a:sym typeface="Open Sauce Bold"/>
              </a:rPr>
              <a:t>Architecture Selection: Logic-to-Entropy Mapping </a:t>
            </a:r>
          </a:p>
        </p:txBody>
      </p:sp>
      <p:sp>
        <p:nvSpPr>
          <p:cNvPr name="TextBox 10" id="10"/>
          <p:cNvSpPr txBox="true"/>
          <p:nvPr/>
        </p:nvSpPr>
        <p:spPr>
          <a:xfrm rot="0">
            <a:off x="10476989" y="3207695"/>
            <a:ext cx="5276255" cy="389255"/>
          </a:xfrm>
          <a:prstGeom prst="rect">
            <a:avLst/>
          </a:prstGeom>
        </p:spPr>
        <p:txBody>
          <a:bodyPr anchor="t" rtlCol="false" tIns="0" lIns="0" bIns="0" rIns="0">
            <a:spAutoFit/>
          </a:bodyPr>
          <a:lstStyle/>
          <a:p>
            <a:pPr algn="ctr">
              <a:lnSpc>
                <a:spcPts val="3219"/>
              </a:lnSpc>
              <a:spcBef>
                <a:spcPct val="0"/>
              </a:spcBef>
            </a:pPr>
            <a:r>
              <a:rPr lang="en-US" b="true" sz="2299">
                <a:solidFill>
                  <a:srgbClr val="79E920"/>
                </a:solidFill>
                <a:latin typeface="Canva Sans Bold"/>
                <a:ea typeface="Canva Sans Bold"/>
                <a:cs typeface="Canva Sans Bold"/>
                <a:sym typeface="Canva Sans Bold"/>
              </a:rPr>
              <a:t>The Three-Pillar Structural Backbone</a:t>
            </a:r>
          </a:p>
        </p:txBody>
      </p:sp>
      <p:sp>
        <p:nvSpPr>
          <p:cNvPr name="TextBox 11" id="11"/>
          <p:cNvSpPr txBox="true"/>
          <p:nvPr/>
        </p:nvSpPr>
        <p:spPr>
          <a:xfrm rot="0">
            <a:off x="10392334" y="3901750"/>
            <a:ext cx="7499346" cy="4407535"/>
          </a:xfrm>
          <a:prstGeom prst="rect">
            <a:avLst/>
          </a:prstGeom>
        </p:spPr>
        <p:txBody>
          <a:bodyPr anchor="t" rtlCol="false" tIns="0" lIns="0" bIns="0" rIns="0">
            <a:spAutoFit/>
          </a:bodyPr>
          <a:lstStyle/>
          <a:p>
            <a:pPr algn="l" marL="345441" indent="-172721" lvl="1">
              <a:lnSpc>
                <a:spcPts val="2240"/>
              </a:lnSpc>
              <a:buFont typeface="Arial"/>
              <a:buChar char="•"/>
            </a:pPr>
            <a:r>
              <a:rPr lang="en-US" b="true" sz="1600">
                <a:solidFill>
                  <a:srgbClr val="79E920"/>
                </a:solidFill>
                <a:latin typeface="Canva Sans Bold"/>
                <a:ea typeface="Canva Sans Bold"/>
                <a:cs typeface="Canva Sans Bold"/>
                <a:sym typeface="Canva Sans Bold"/>
              </a:rPr>
              <a:t>1. Global Context Pillar (Selective SSM/Mamba)</a:t>
            </a:r>
          </a:p>
          <a:p>
            <a:pPr algn="l" marL="690882" indent="-230294" lvl="2">
              <a:lnSpc>
                <a:spcPts val="2240"/>
              </a:lnSpc>
              <a:buFont typeface="Arial"/>
              <a:buChar char="⚬"/>
            </a:pPr>
            <a:r>
              <a:rPr lang="en-US" sz="1600">
                <a:solidFill>
                  <a:srgbClr val="FFFFFF"/>
                </a:solidFill>
                <a:latin typeface="Canva Sans"/>
                <a:ea typeface="Canva Sans"/>
                <a:cs typeface="Canva Sans"/>
                <a:sym typeface="Canva Sans"/>
              </a:rPr>
              <a:t>Tracks detector background (Pedestals) using Selective State Space Models. It maintains global memory over millions of bytes with O(1) complexity.</a:t>
            </a:r>
          </a:p>
          <a:p>
            <a:pPr algn="l">
              <a:lnSpc>
                <a:spcPts val="2240"/>
              </a:lnSpc>
            </a:pPr>
          </a:p>
          <a:p>
            <a:pPr algn="l" marL="345441" indent="-172721" lvl="1">
              <a:lnSpc>
                <a:spcPts val="2240"/>
              </a:lnSpc>
              <a:buFont typeface="Arial"/>
              <a:buChar char="•"/>
            </a:pPr>
            <a:r>
              <a:rPr lang="en-US" sz="1600">
                <a:solidFill>
                  <a:srgbClr val="79E920"/>
                </a:solidFill>
                <a:latin typeface="Canva Sans"/>
                <a:ea typeface="Canva Sans"/>
                <a:cs typeface="Canva Sans"/>
                <a:sym typeface="Canva Sans"/>
              </a:rPr>
              <a:t>2</a:t>
            </a:r>
            <a:r>
              <a:rPr lang="en-US" b="true" sz="1600">
                <a:solidFill>
                  <a:srgbClr val="79E920"/>
                </a:solidFill>
                <a:latin typeface="Canva Sans Bold"/>
                <a:ea typeface="Canva Sans Bold"/>
                <a:cs typeface="Canva Sans Bold"/>
                <a:sym typeface="Canva Sans Bold"/>
              </a:rPr>
              <a:t>. Local Precision Pillar (Sliding Window Attention)</a:t>
            </a:r>
          </a:p>
          <a:p>
            <a:pPr algn="l" marL="690882" indent="-230294" lvl="2">
              <a:lnSpc>
                <a:spcPts val="2240"/>
              </a:lnSpc>
              <a:buFont typeface="Arial"/>
              <a:buChar char="⚬"/>
            </a:pPr>
            <a:r>
              <a:rPr lang="en-US" sz="1600">
                <a:solidFill>
                  <a:srgbClr val="FFFFFF"/>
                </a:solidFill>
                <a:latin typeface="Canva Sans"/>
                <a:ea typeface="Canva Sans"/>
                <a:cs typeface="Canva Sans"/>
                <a:sym typeface="Canva Sans"/>
              </a:rPr>
              <a:t>Captures high-energy "Jets" and particle tracks via a 128-byte Sliding Window KV Cache, focusing on localized correlations missed by global models.</a:t>
            </a:r>
          </a:p>
          <a:p>
            <a:pPr algn="l">
              <a:lnSpc>
                <a:spcPts val="2240"/>
              </a:lnSpc>
            </a:pPr>
          </a:p>
          <a:p>
            <a:pPr algn="l" marL="345441" indent="-172721" lvl="1">
              <a:lnSpc>
                <a:spcPts val="2240"/>
              </a:lnSpc>
              <a:buFont typeface="Arial"/>
              <a:buChar char="•"/>
            </a:pPr>
            <a:r>
              <a:rPr lang="en-US" b="true" sz="1600">
                <a:solidFill>
                  <a:srgbClr val="79E920"/>
                </a:solidFill>
                <a:latin typeface="Canva Sans Bold"/>
                <a:ea typeface="Canva Sans Bold"/>
                <a:cs typeface="Canva Sans Bold"/>
                <a:sym typeface="Canva Sans Bold"/>
              </a:rPr>
              <a:t>3. Structural Pattern Pillar (Causal Convolution) with MinGRU &amp; Linear-RNNs</a:t>
            </a:r>
          </a:p>
          <a:p>
            <a:pPr algn="l" marL="690882" indent="-230294" lvl="2">
              <a:lnSpc>
                <a:spcPts val="2240"/>
              </a:lnSpc>
              <a:buFont typeface="Arial"/>
              <a:buChar char="⚬"/>
            </a:pPr>
            <a:r>
              <a:rPr lang="en-US" sz="1600">
                <a:solidFill>
                  <a:srgbClr val="FFFFFF"/>
                </a:solidFill>
                <a:latin typeface="Canva Sans"/>
                <a:ea typeface="Canva Sans"/>
                <a:cs typeface="Canva Sans"/>
                <a:sym typeface="Canva Sans"/>
              </a:rPr>
              <a:t>Identifies rigid hardware signatures, headers, and repeating pulse shapes using 1D-Convolutions for high-speed, low-cost pattern recognition, impler gated recurrence can match Mamba’s performance at a fraction of the computational cost (FLOPs</a:t>
            </a:r>
          </a:p>
        </p:txBody>
      </p:sp>
      <p:sp>
        <p:nvSpPr>
          <p:cNvPr name="TextBox 12" id="12"/>
          <p:cNvSpPr txBox="true"/>
          <p:nvPr/>
        </p:nvSpPr>
        <p:spPr>
          <a:xfrm rot="0">
            <a:off x="239970" y="2597435"/>
            <a:ext cx="9592731" cy="6617335"/>
          </a:xfrm>
          <a:prstGeom prst="rect">
            <a:avLst/>
          </a:prstGeom>
        </p:spPr>
        <p:txBody>
          <a:bodyPr anchor="t" rtlCol="false" tIns="0" lIns="0" bIns="0" rIns="0">
            <a:spAutoFit/>
          </a:bodyPr>
          <a:lstStyle/>
          <a:p>
            <a:pPr algn="l">
              <a:lnSpc>
                <a:spcPts val="2240"/>
              </a:lnSpc>
            </a:pPr>
            <a:r>
              <a:rPr lang="en-US" b="true" sz="1600">
                <a:solidFill>
                  <a:srgbClr val="79E920"/>
                </a:solidFill>
                <a:latin typeface="Canva Sans Bold"/>
                <a:ea typeface="Canva Sans Bold"/>
                <a:cs typeface="Canva Sans Bold"/>
                <a:sym typeface="Canva Sans Bold"/>
              </a:rPr>
              <a:t>Physics-Informed Byte Streams (PIBS)</a:t>
            </a:r>
          </a:p>
          <a:p>
            <a:pPr algn="l">
              <a:lnSpc>
                <a:spcPts val="2240"/>
              </a:lnSpc>
            </a:pPr>
          </a:p>
          <a:p>
            <a:pPr algn="l" marL="345441" indent="-172721" lvl="1">
              <a:lnSpc>
                <a:spcPts val="2240"/>
              </a:lnSpc>
              <a:buFont typeface="Arial"/>
              <a:buChar char="•"/>
            </a:pPr>
            <a:r>
              <a:rPr lang="en-US" sz="1600">
                <a:solidFill>
                  <a:srgbClr val="FFFFFF"/>
                </a:solidFill>
                <a:latin typeface="Canva Sans"/>
                <a:ea typeface="Canva Sans"/>
                <a:cs typeface="Canva Sans"/>
                <a:sym typeface="Canva Sans"/>
              </a:rPr>
              <a:t>HybridPillar++ uses PINN logic to ensure data compression adheres to physical laws rather than treating bytes as arbitrary symbols.</a:t>
            </a:r>
          </a:p>
          <a:p>
            <a:pPr algn="l">
              <a:lnSpc>
                <a:spcPts val="2240"/>
              </a:lnSpc>
            </a:pPr>
          </a:p>
          <a:p>
            <a:pPr algn="l" marL="690882" indent="-230294" lvl="2">
              <a:lnSpc>
                <a:spcPts val="2240"/>
              </a:lnSpc>
              <a:buFont typeface="Arial"/>
              <a:buChar char="⚬"/>
            </a:pPr>
            <a:r>
              <a:rPr lang="en-US" sz="1600">
                <a:solidFill>
                  <a:srgbClr val="79E920"/>
                </a:solidFill>
                <a:latin typeface="Canva Sans"/>
                <a:ea typeface="Canva Sans"/>
                <a:cs typeface="Canva Sans"/>
                <a:sym typeface="Canva Sans"/>
              </a:rPr>
              <a:t>Equivariant Mapping:</a:t>
            </a:r>
            <a:r>
              <a:rPr lang="en-US" sz="1600">
                <a:solidFill>
                  <a:srgbClr val="FFFFFF"/>
                </a:solidFill>
                <a:latin typeface="Canva Sans"/>
                <a:ea typeface="Canva Sans"/>
                <a:cs typeface="Canva Sans"/>
                <a:sym typeface="Canva Sans"/>
              </a:rPr>
              <a:t> Constrains the model to recognize identical physical signals regardless of their position in the byte stream.</a:t>
            </a:r>
          </a:p>
          <a:p>
            <a:pPr algn="l">
              <a:lnSpc>
                <a:spcPts val="2240"/>
              </a:lnSpc>
            </a:pPr>
          </a:p>
          <a:p>
            <a:pPr algn="l" marL="690882" indent="-230294" lvl="2">
              <a:lnSpc>
                <a:spcPts val="2240"/>
              </a:lnSpc>
              <a:buFont typeface="Arial"/>
              <a:buChar char="⚬"/>
            </a:pPr>
            <a:r>
              <a:rPr lang="en-US" sz="1600">
                <a:solidFill>
                  <a:srgbClr val="79E920"/>
                </a:solidFill>
                <a:latin typeface="Canva Sans"/>
                <a:ea typeface="Canva Sans"/>
                <a:cs typeface="Canva Sans"/>
                <a:sym typeface="Canva Sans"/>
              </a:rPr>
              <a:t>Auxiliary Physics Loss:</a:t>
            </a:r>
            <a:r>
              <a:rPr lang="en-US" sz="1600">
                <a:solidFill>
                  <a:srgbClr val="FFFFFF"/>
                </a:solidFill>
                <a:latin typeface="Canva Sans"/>
                <a:ea typeface="Canva Sans"/>
                <a:cs typeface="Canva Sans"/>
                <a:sym typeface="Canva Sans"/>
              </a:rPr>
              <a:t> Penalizes predictions that violate Energy Conservation, forcing the model to discard physically impossible sequences.</a:t>
            </a:r>
          </a:p>
          <a:p>
            <a:pPr algn="l">
              <a:lnSpc>
                <a:spcPts val="2240"/>
              </a:lnSpc>
            </a:pPr>
          </a:p>
          <a:p>
            <a:pPr algn="l" marL="690882" indent="-230294" lvl="2">
              <a:lnSpc>
                <a:spcPts val="2240"/>
              </a:lnSpc>
              <a:buFont typeface="Arial"/>
              <a:buChar char="⚬"/>
            </a:pPr>
            <a:r>
              <a:rPr lang="en-US" sz="1600">
                <a:solidFill>
                  <a:srgbClr val="79E920"/>
                </a:solidFill>
                <a:latin typeface="Canva Sans"/>
                <a:ea typeface="Canva Sans"/>
                <a:cs typeface="Canva Sans"/>
                <a:sym typeface="Canva Sans"/>
              </a:rPr>
              <a:t>Result:</a:t>
            </a:r>
            <a:r>
              <a:rPr lang="en-US" sz="1600">
                <a:solidFill>
                  <a:srgbClr val="FFFFFF"/>
                </a:solidFill>
                <a:latin typeface="Canva Sans"/>
                <a:ea typeface="Canva Sans"/>
                <a:cs typeface="Canva Sans"/>
                <a:sym typeface="Canva Sans"/>
              </a:rPr>
              <a:t> Narrowing the search space allows the model to hit the 0.92 BPB floor faster than unconstrained architectures.</a:t>
            </a:r>
          </a:p>
          <a:p>
            <a:pPr algn="l">
              <a:lnSpc>
                <a:spcPts val="2240"/>
              </a:lnSpc>
            </a:pPr>
          </a:p>
          <a:p>
            <a:pPr algn="l">
              <a:lnSpc>
                <a:spcPts val="2240"/>
              </a:lnSpc>
            </a:pPr>
            <a:r>
              <a:rPr lang="en-US" b="true" sz="1600">
                <a:solidFill>
                  <a:srgbClr val="79E920"/>
                </a:solidFill>
                <a:latin typeface="Canva Sans Bold"/>
                <a:ea typeface="Canva Sans Bold"/>
                <a:cs typeface="Canva Sans Bold"/>
                <a:sym typeface="Canva Sans Bold"/>
              </a:rPr>
              <a:t>The Efficiency Frontier (Optimization)</a:t>
            </a:r>
          </a:p>
          <a:p>
            <a:pPr algn="l">
              <a:lnSpc>
                <a:spcPts val="2240"/>
              </a:lnSpc>
            </a:pPr>
          </a:p>
          <a:p>
            <a:pPr algn="l" marL="345441" indent="-172721" lvl="1">
              <a:lnSpc>
                <a:spcPts val="2240"/>
              </a:lnSpc>
              <a:buFont typeface="Arial"/>
              <a:buChar char="•"/>
            </a:pPr>
            <a:r>
              <a:rPr lang="en-US" sz="1600">
                <a:solidFill>
                  <a:srgbClr val="FFFFFF"/>
                </a:solidFill>
                <a:latin typeface="Canva Sans"/>
                <a:ea typeface="Canva Sans"/>
                <a:cs typeface="Canva Sans"/>
                <a:sym typeface="Canva Sans"/>
              </a:rPr>
              <a:t>To process 30 PB of data, the model is optimized for high-speed hardware execution.</a:t>
            </a:r>
          </a:p>
          <a:p>
            <a:pPr algn="l">
              <a:lnSpc>
                <a:spcPts val="2240"/>
              </a:lnSpc>
            </a:pPr>
          </a:p>
          <a:p>
            <a:pPr algn="l" marL="690882" indent="-230294" lvl="2">
              <a:lnSpc>
                <a:spcPts val="2240"/>
              </a:lnSpc>
              <a:buFont typeface="Arial"/>
              <a:buChar char="⚬"/>
            </a:pPr>
            <a:r>
              <a:rPr lang="en-US" sz="1600">
                <a:solidFill>
                  <a:srgbClr val="79E920"/>
                </a:solidFill>
                <a:latin typeface="Canva Sans"/>
                <a:ea typeface="Canva Sans"/>
                <a:cs typeface="Canva Sans"/>
                <a:sym typeface="Canva Sans"/>
              </a:rPr>
              <a:t>INT8 Quantization: </a:t>
            </a:r>
            <a:r>
              <a:rPr lang="en-US" sz="1600">
                <a:solidFill>
                  <a:srgbClr val="FFFFFF"/>
                </a:solidFill>
                <a:latin typeface="Canva Sans"/>
                <a:ea typeface="Canva Sans"/>
                <a:cs typeface="Canva Sans"/>
                <a:sym typeface="Canva Sans"/>
              </a:rPr>
              <a:t>Compresses the model from 32.4 MB to 12.2 MB, allowing it to run entirely within the L2/L3 GPU cache for 960 MB/s throughput.</a:t>
            </a:r>
          </a:p>
          <a:p>
            <a:pPr algn="l">
              <a:lnSpc>
                <a:spcPts val="2240"/>
              </a:lnSpc>
            </a:pPr>
          </a:p>
          <a:p>
            <a:pPr algn="l" marL="690882" indent="-230294" lvl="2">
              <a:lnSpc>
                <a:spcPts val="2240"/>
              </a:lnSpc>
              <a:buFont typeface="Arial"/>
              <a:buChar char="⚬"/>
            </a:pPr>
            <a:r>
              <a:rPr lang="en-US" sz="1600">
                <a:solidFill>
                  <a:srgbClr val="79E920"/>
                </a:solidFill>
                <a:latin typeface="Canva Sans"/>
                <a:ea typeface="Canva Sans"/>
                <a:cs typeface="Canva Sans"/>
                <a:sym typeface="Canva Sans"/>
              </a:rPr>
              <a:t>Asynchronous CUDA Pipelining: </a:t>
            </a:r>
            <a:r>
              <a:rPr lang="en-US" sz="1600">
                <a:solidFill>
                  <a:srgbClr val="FFFFFF"/>
                </a:solidFill>
                <a:latin typeface="Canva Sans"/>
                <a:ea typeface="Canva Sans"/>
                <a:cs typeface="Canva Sans"/>
                <a:sym typeface="Canva Sans"/>
              </a:rPr>
              <a:t>Employs a Double Buffer approach the GPU calculates physics probabilities while a parallel Range Coder packs the previous block, reaching 1 GB/s speeds.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true" rot="0">
            <a:off x="16680530" y="-1539550"/>
            <a:ext cx="3203309" cy="5136501"/>
          </a:xfrm>
          <a:custGeom>
            <a:avLst/>
            <a:gdLst/>
            <a:ahLst/>
            <a:cxnLst/>
            <a:rect r="r" b="b" t="t" l="l"/>
            <a:pathLst>
              <a:path h="5136501" w="3203309">
                <a:moveTo>
                  <a:pt x="0" y="5136500"/>
                </a:moveTo>
                <a:lnTo>
                  <a:pt x="3203309" y="5136500"/>
                </a:lnTo>
                <a:lnTo>
                  <a:pt x="3203309" y="0"/>
                </a:lnTo>
                <a:lnTo>
                  <a:pt x="0" y="0"/>
                </a:lnTo>
                <a:lnTo>
                  <a:pt x="0" y="51365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595839" y="-1539550"/>
            <a:ext cx="3203309" cy="5136501"/>
          </a:xfrm>
          <a:custGeom>
            <a:avLst/>
            <a:gdLst/>
            <a:ahLst/>
            <a:cxnLst/>
            <a:rect r="r" b="b" t="t" l="l"/>
            <a:pathLst>
              <a:path h="5136501" w="3203309">
                <a:moveTo>
                  <a:pt x="3203309" y="5136500"/>
                </a:moveTo>
                <a:lnTo>
                  <a:pt x="0" y="5136500"/>
                </a:lnTo>
                <a:lnTo>
                  <a:pt x="0" y="0"/>
                </a:lnTo>
                <a:lnTo>
                  <a:pt x="3203309" y="0"/>
                </a:lnTo>
                <a:lnTo>
                  <a:pt x="3203309" y="51365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5400000">
            <a:off x="430699" y="8680670"/>
            <a:ext cx="1196001" cy="1577460"/>
          </a:xfrm>
          <a:custGeom>
            <a:avLst/>
            <a:gdLst/>
            <a:ahLst/>
            <a:cxnLst/>
            <a:rect r="r" b="b" t="t" l="l"/>
            <a:pathLst>
              <a:path h="1577460" w="1196001">
                <a:moveTo>
                  <a:pt x="1196002" y="1577459"/>
                </a:moveTo>
                <a:lnTo>
                  <a:pt x="0" y="1577459"/>
                </a:lnTo>
                <a:lnTo>
                  <a:pt x="0" y="0"/>
                </a:lnTo>
                <a:lnTo>
                  <a:pt x="1196002" y="0"/>
                </a:lnTo>
                <a:lnTo>
                  <a:pt x="1196002" y="15774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400000">
            <a:off x="16661299" y="8680670"/>
            <a:ext cx="1196001" cy="1577460"/>
          </a:xfrm>
          <a:custGeom>
            <a:avLst/>
            <a:gdLst/>
            <a:ahLst/>
            <a:cxnLst/>
            <a:rect r="r" b="b" t="t" l="l"/>
            <a:pathLst>
              <a:path h="1577460" w="1196001">
                <a:moveTo>
                  <a:pt x="0" y="0"/>
                </a:moveTo>
                <a:lnTo>
                  <a:pt x="1196002" y="0"/>
                </a:lnTo>
                <a:lnTo>
                  <a:pt x="1196002" y="1577459"/>
                </a:lnTo>
                <a:lnTo>
                  <a:pt x="0" y="15774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8583080" y="9258300"/>
            <a:ext cx="1121840" cy="422199"/>
          </a:xfrm>
          <a:custGeom>
            <a:avLst/>
            <a:gdLst/>
            <a:ahLst/>
            <a:cxnLst/>
            <a:rect r="r" b="b" t="t" l="l"/>
            <a:pathLst>
              <a:path h="422199" w="1121840">
                <a:moveTo>
                  <a:pt x="0" y="0"/>
                </a:moveTo>
                <a:lnTo>
                  <a:pt x="1121840" y="0"/>
                </a:lnTo>
                <a:lnTo>
                  <a:pt x="1121840" y="422199"/>
                </a:lnTo>
                <a:lnTo>
                  <a:pt x="0" y="422199"/>
                </a:lnTo>
                <a:lnTo>
                  <a:pt x="0" y="0"/>
                </a:lnTo>
                <a:close/>
              </a:path>
            </a:pathLst>
          </a:custGeom>
          <a:blipFill>
            <a:blip r:embed="rId6">
              <a:extLst>
                <a:ext uri="{96DAC541-7B7A-43D3-8B79-37D633B846F1}">
                  <asvg:svgBlip xmlns:asvg="http://schemas.microsoft.com/office/drawing/2016/SVG/main" r:embed="rId7"/>
                </a:ext>
              </a:extLst>
            </a:blip>
            <a:stretch>
              <a:fillRect l="0" t="-360269" r="-71960" b="0"/>
            </a:stretch>
          </a:blipFill>
        </p:spPr>
      </p:sp>
      <p:sp>
        <p:nvSpPr>
          <p:cNvPr name="Freeform 7" id="7"/>
          <p:cNvSpPr/>
          <p:nvPr/>
        </p:nvSpPr>
        <p:spPr>
          <a:xfrm flipH="false" flipV="false" rot="0">
            <a:off x="12566834" y="172607"/>
            <a:ext cx="4511085" cy="9941786"/>
          </a:xfrm>
          <a:custGeom>
            <a:avLst/>
            <a:gdLst/>
            <a:ahLst/>
            <a:cxnLst/>
            <a:rect r="r" b="b" t="t" l="l"/>
            <a:pathLst>
              <a:path h="9941786" w="4511085">
                <a:moveTo>
                  <a:pt x="0" y="0"/>
                </a:moveTo>
                <a:lnTo>
                  <a:pt x="4511086" y="0"/>
                </a:lnTo>
                <a:lnTo>
                  <a:pt x="4511086" y="9941786"/>
                </a:lnTo>
                <a:lnTo>
                  <a:pt x="0" y="9941786"/>
                </a:lnTo>
                <a:lnTo>
                  <a:pt x="0" y="0"/>
                </a:lnTo>
                <a:close/>
              </a:path>
            </a:pathLst>
          </a:custGeom>
          <a:blipFill>
            <a:blip r:embed="rId8"/>
            <a:stretch>
              <a:fillRect l="0" t="0" r="0" b="0"/>
            </a:stretch>
          </a:blipFill>
        </p:spPr>
      </p:sp>
      <p:sp>
        <p:nvSpPr>
          <p:cNvPr name="TextBox 8" id="8"/>
          <p:cNvSpPr txBox="true"/>
          <p:nvPr/>
        </p:nvSpPr>
        <p:spPr>
          <a:xfrm rot="0">
            <a:off x="3217603" y="547370"/>
            <a:ext cx="10730954" cy="905511"/>
          </a:xfrm>
          <a:prstGeom prst="rect">
            <a:avLst/>
          </a:prstGeom>
        </p:spPr>
        <p:txBody>
          <a:bodyPr anchor="t" rtlCol="false" tIns="0" lIns="0" bIns="0" rIns="0">
            <a:spAutoFit/>
          </a:bodyPr>
          <a:lstStyle/>
          <a:p>
            <a:pPr algn="ctr">
              <a:lnSpc>
                <a:spcPts val="3639"/>
              </a:lnSpc>
              <a:spcBef>
                <a:spcPct val="0"/>
              </a:spcBef>
            </a:pPr>
            <a:r>
              <a:rPr lang="en-US" b="true" sz="2599">
                <a:solidFill>
                  <a:srgbClr val="FFFFFF"/>
                </a:solidFill>
                <a:latin typeface="Canva Sans Bold"/>
                <a:ea typeface="Canva Sans Bold"/>
                <a:cs typeface="Canva Sans Bold"/>
                <a:sym typeface="Canva Sans Bold"/>
              </a:rPr>
              <a:t>Testing ablations, pruning, and quantisation impacts on the model:</a:t>
            </a:r>
          </a:p>
          <a:p>
            <a:pPr algn="ctr">
              <a:lnSpc>
                <a:spcPts val="3639"/>
              </a:lnSpc>
              <a:spcBef>
                <a:spcPct val="0"/>
              </a:spcBef>
            </a:pPr>
            <a:r>
              <a:rPr lang="en-US" b="true" sz="2599">
                <a:solidFill>
                  <a:srgbClr val="79E920"/>
                </a:solidFill>
                <a:latin typeface="Canva Sans Bold"/>
                <a:ea typeface="Canva Sans Bold"/>
                <a:cs typeface="Canva Sans Bold"/>
                <a:sym typeface="Canva Sans Bold"/>
              </a:rPr>
              <a:t>What, Why &amp; Impact</a:t>
            </a:r>
          </a:p>
        </p:txBody>
      </p:sp>
      <p:sp>
        <p:nvSpPr>
          <p:cNvPr name="TextBox 9" id="9"/>
          <p:cNvSpPr txBox="true"/>
          <p:nvPr/>
        </p:nvSpPr>
        <p:spPr>
          <a:xfrm rot="0">
            <a:off x="1468728" y="3289168"/>
            <a:ext cx="10863760" cy="5323840"/>
          </a:xfrm>
          <a:prstGeom prst="rect">
            <a:avLst/>
          </a:prstGeom>
        </p:spPr>
        <p:txBody>
          <a:bodyPr anchor="t" rtlCol="false" tIns="0" lIns="0" bIns="0" rIns="0">
            <a:spAutoFit/>
          </a:bodyPr>
          <a:lstStyle/>
          <a:p>
            <a:pPr algn="l">
              <a:lnSpc>
                <a:spcPts val="2659"/>
              </a:lnSpc>
            </a:pPr>
          </a:p>
          <a:p>
            <a:pPr algn="l" marL="410209" indent="-205105" lvl="1">
              <a:lnSpc>
                <a:spcPts val="2659"/>
              </a:lnSpc>
              <a:buFont typeface="Arial"/>
              <a:buChar char="•"/>
            </a:pPr>
            <a:r>
              <a:rPr lang="en-US" b="true" sz="1899">
                <a:solidFill>
                  <a:srgbClr val="79E920"/>
                </a:solidFill>
                <a:latin typeface="Canva Sans Bold"/>
                <a:ea typeface="Canva Sans Bold"/>
                <a:cs typeface="Canva Sans Bold"/>
                <a:sym typeface="Canva Sans Bold"/>
              </a:rPr>
              <a:t>Ablation Studies</a:t>
            </a:r>
            <a:r>
              <a:rPr lang="en-US" b="true" sz="1899">
                <a:solidFill>
                  <a:srgbClr val="FFFFFF"/>
                </a:solidFill>
                <a:latin typeface="Canva Sans Bold"/>
                <a:ea typeface="Canva Sans Bold"/>
                <a:cs typeface="Canva Sans Bold"/>
                <a:sym typeface="Canva Sans Bold"/>
              </a:rPr>
              <a:t>:</a:t>
            </a:r>
            <a:r>
              <a:rPr lang="en-US" sz="1899">
                <a:solidFill>
                  <a:srgbClr val="FFFFFF"/>
                </a:solidFill>
                <a:latin typeface="Canva Sans"/>
                <a:ea typeface="Canva Sans"/>
                <a:cs typeface="Canva Sans"/>
                <a:sym typeface="Canva Sans"/>
              </a:rPr>
              <a:t> Systematically removing "pillars" to isolate specific compression gains.</a:t>
            </a:r>
          </a:p>
          <a:p>
            <a:pPr algn="l">
              <a:lnSpc>
                <a:spcPts val="2659"/>
              </a:lnSpc>
            </a:pPr>
          </a:p>
          <a:p>
            <a:pPr algn="l" marL="410209" indent="-205105" lvl="1">
              <a:lnSpc>
                <a:spcPts val="2659"/>
              </a:lnSpc>
              <a:buFont typeface="Arial"/>
              <a:buChar char="•"/>
            </a:pPr>
            <a:r>
              <a:rPr lang="en-US" b="true" sz="1899">
                <a:solidFill>
                  <a:srgbClr val="79E920"/>
                </a:solidFill>
                <a:latin typeface="Canva Sans Bold"/>
                <a:ea typeface="Canva Sans Bold"/>
                <a:cs typeface="Canva Sans Bold"/>
                <a:sym typeface="Canva Sans Bold"/>
              </a:rPr>
              <a:t>Structured Pruning:</a:t>
            </a:r>
            <a:r>
              <a:rPr lang="en-US" b="true" sz="1899">
                <a:solidFill>
                  <a:srgbClr val="FFFFFF"/>
                </a:solidFill>
                <a:latin typeface="Canva Sans Bold"/>
                <a:ea typeface="Canva Sans Bold"/>
                <a:cs typeface="Canva Sans Bold"/>
                <a:sym typeface="Canva Sans Bold"/>
              </a:rPr>
              <a:t> </a:t>
            </a:r>
            <a:r>
              <a:rPr lang="en-US" sz="1899">
                <a:solidFill>
                  <a:srgbClr val="FFFFFF"/>
                </a:solidFill>
                <a:latin typeface="Canva Sans"/>
                <a:ea typeface="Canva Sans"/>
                <a:cs typeface="Canva Sans"/>
                <a:sym typeface="Canva Sans"/>
              </a:rPr>
              <a:t>Removing entire channels or layers for superior hardware acceleration compared to weight-level pruning.</a:t>
            </a:r>
          </a:p>
          <a:p>
            <a:pPr algn="l">
              <a:lnSpc>
                <a:spcPts val="2659"/>
              </a:lnSpc>
            </a:pPr>
          </a:p>
          <a:p>
            <a:pPr algn="l" marL="410209" indent="-205105" lvl="1">
              <a:lnSpc>
                <a:spcPts val="2659"/>
              </a:lnSpc>
              <a:buFont typeface="Arial"/>
              <a:buChar char="•"/>
            </a:pPr>
            <a:r>
              <a:rPr lang="en-US" b="true" sz="1899">
                <a:solidFill>
                  <a:srgbClr val="79E920"/>
                </a:solidFill>
                <a:latin typeface="Canva Sans Bold"/>
                <a:ea typeface="Canva Sans Bold"/>
                <a:cs typeface="Canva Sans Bold"/>
                <a:sym typeface="Canva Sans Bold"/>
              </a:rPr>
              <a:t>Quantization (QAT):</a:t>
            </a:r>
            <a:r>
              <a:rPr lang="en-US" b="true" sz="1899">
                <a:solidFill>
                  <a:srgbClr val="FFFFFF"/>
                </a:solidFill>
                <a:latin typeface="Canva Sans Bold"/>
                <a:ea typeface="Canva Sans Bold"/>
                <a:cs typeface="Canva Sans Bold"/>
                <a:sym typeface="Canva Sans Bold"/>
              </a:rPr>
              <a:t> </a:t>
            </a:r>
            <a:r>
              <a:rPr lang="en-US" sz="1899">
                <a:solidFill>
                  <a:srgbClr val="FFFFFF"/>
                </a:solidFill>
                <a:latin typeface="Canva Sans"/>
                <a:ea typeface="Canva Sans"/>
                <a:cs typeface="Canva Sans"/>
                <a:sym typeface="Canva Sans"/>
              </a:rPr>
              <a:t>Converting to INT8/FP8 while maintaining 100% bit-exactness for lossless compression</a:t>
            </a:r>
          </a:p>
          <a:p>
            <a:pPr algn="l">
              <a:lnSpc>
                <a:spcPts val="2659"/>
              </a:lnSpc>
            </a:pPr>
          </a:p>
          <a:p>
            <a:pPr algn="l" marL="410209" indent="-205105" lvl="1">
              <a:lnSpc>
                <a:spcPts val="2659"/>
              </a:lnSpc>
              <a:buFont typeface="Arial"/>
              <a:buChar char="•"/>
            </a:pPr>
            <a:r>
              <a:rPr lang="en-US" b="true" sz="1899">
                <a:solidFill>
                  <a:srgbClr val="79E920"/>
                </a:solidFill>
                <a:latin typeface="Canva Sans Bold"/>
                <a:ea typeface="Canva Sans Bold"/>
                <a:cs typeface="Canva Sans Bold"/>
                <a:sym typeface="Canva Sans Bold"/>
              </a:rPr>
              <a:t>Cache-Centric Execution</a:t>
            </a:r>
            <a:r>
              <a:rPr lang="en-US" sz="1899">
                <a:solidFill>
                  <a:srgbClr val="FFFFFF"/>
                </a:solidFill>
                <a:latin typeface="Canva Sans"/>
                <a:ea typeface="Canva Sans"/>
                <a:cs typeface="Canva Sans"/>
                <a:sym typeface="Canva Sans"/>
              </a:rPr>
              <a:t>: Using INT8/FP8 Quantization-Aware Training (QAT) to shrink the model so it resides entirely within the L2/L3 GPU cache, bypassing slow memory buses.</a:t>
            </a:r>
          </a:p>
          <a:p>
            <a:pPr algn="l">
              <a:lnSpc>
                <a:spcPts val="2659"/>
              </a:lnSpc>
            </a:pPr>
          </a:p>
          <a:p>
            <a:pPr algn="l" marL="410209" indent="-205105" lvl="1">
              <a:lnSpc>
                <a:spcPts val="2659"/>
              </a:lnSpc>
              <a:buFont typeface="Arial"/>
              <a:buChar char="•"/>
            </a:pPr>
            <a:r>
              <a:rPr lang="en-US" b="true" sz="1899">
                <a:solidFill>
                  <a:srgbClr val="79E920"/>
                </a:solidFill>
                <a:latin typeface="Canva Sans Bold"/>
                <a:ea typeface="Canva Sans Bold"/>
                <a:cs typeface="Canva Sans Bold"/>
                <a:sym typeface="Canva Sans Bold"/>
              </a:rPr>
              <a:t>Bit-Exactness: </a:t>
            </a:r>
            <a:r>
              <a:rPr lang="en-US" sz="1899">
                <a:solidFill>
                  <a:srgbClr val="FFFFFF"/>
                </a:solidFill>
                <a:latin typeface="Canva Sans"/>
                <a:ea typeface="Canva Sans"/>
                <a:cs typeface="Canva Sans"/>
                <a:sym typeface="Canva Sans"/>
              </a:rPr>
              <a:t>Leveraging Structured Pruning to reduce parameters while maintaining the 100% bit-exactness required for high-energy physics data.</a:t>
            </a:r>
          </a:p>
          <a:p>
            <a:pPr algn="l">
              <a:lnSpc>
                <a:spcPts val="2659"/>
              </a:lnSpc>
            </a:pPr>
          </a:p>
          <a:p>
            <a:pPr algn="l" marL="410209" indent="-205105" lvl="1">
              <a:lnSpc>
                <a:spcPts val="2659"/>
              </a:lnSpc>
              <a:buFont typeface="Arial"/>
              <a:buChar char="•"/>
            </a:pPr>
            <a:r>
              <a:rPr lang="en-US" b="true" sz="1899">
                <a:solidFill>
                  <a:srgbClr val="79E920"/>
                </a:solidFill>
                <a:latin typeface="Canva Sans Bold"/>
                <a:ea typeface="Canva Sans Bold"/>
                <a:cs typeface="Canva Sans Bold"/>
                <a:sym typeface="Canva Sans Bold"/>
              </a:rPr>
              <a:t>Impact</a:t>
            </a:r>
            <a:r>
              <a:rPr lang="en-US" b="true" sz="1899">
                <a:solidFill>
                  <a:srgbClr val="FFFFFF"/>
                </a:solidFill>
                <a:latin typeface="Canva Sans Bold"/>
                <a:ea typeface="Canva Sans Bold"/>
                <a:cs typeface="Canva Sans Bold"/>
                <a:sym typeface="Canva Sans Bold"/>
              </a:rPr>
              <a:t>:</a:t>
            </a:r>
            <a:r>
              <a:rPr lang="en-US" sz="1899">
                <a:solidFill>
                  <a:srgbClr val="FFFFFF"/>
                </a:solidFill>
                <a:latin typeface="Canva Sans"/>
                <a:ea typeface="Canva Sans"/>
                <a:cs typeface="Canva Sans"/>
                <a:sym typeface="Canva Sans"/>
              </a:rPr>
              <a:t> Enables the model to reside in L2/L3 GPU cache, maximizing throughput.</a:t>
            </a:r>
          </a:p>
        </p:txBody>
      </p:sp>
      <p:sp>
        <p:nvSpPr>
          <p:cNvPr name="TextBox 10" id="10"/>
          <p:cNvSpPr txBox="true"/>
          <p:nvPr/>
        </p:nvSpPr>
        <p:spPr>
          <a:xfrm rot="0">
            <a:off x="1468728" y="2042028"/>
            <a:ext cx="10224217" cy="65659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Canva Sans"/>
                <a:ea typeface="Canva Sans"/>
                <a:cs typeface="Canva Sans"/>
                <a:sym typeface="Canva Sans"/>
              </a:rPr>
              <a:t>Optimization strategies to ensure high-performance models fit within hardware power and memory constraints.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true" rot="0">
            <a:off x="16680530" y="-1539550"/>
            <a:ext cx="3203309" cy="5136501"/>
          </a:xfrm>
          <a:custGeom>
            <a:avLst/>
            <a:gdLst/>
            <a:ahLst/>
            <a:cxnLst/>
            <a:rect r="r" b="b" t="t" l="l"/>
            <a:pathLst>
              <a:path h="5136501" w="3203309">
                <a:moveTo>
                  <a:pt x="0" y="5136500"/>
                </a:moveTo>
                <a:lnTo>
                  <a:pt x="3203309" y="5136500"/>
                </a:lnTo>
                <a:lnTo>
                  <a:pt x="3203309" y="0"/>
                </a:lnTo>
                <a:lnTo>
                  <a:pt x="0" y="0"/>
                </a:lnTo>
                <a:lnTo>
                  <a:pt x="0" y="51365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595839" y="-1539550"/>
            <a:ext cx="3203309" cy="5136501"/>
          </a:xfrm>
          <a:custGeom>
            <a:avLst/>
            <a:gdLst/>
            <a:ahLst/>
            <a:cxnLst/>
            <a:rect r="r" b="b" t="t" l="l"/>
            <a:pathLst>
              <a:path h="5136501" w="3203309">
                <a:moveTo>
                  <a:pt x="3203309" y="5136500"/>
                </a:moveTo>
                <a:lnTo>
                  <a:pt x="0" y="5136500"/>
                </a:lnTo>
                <a:lnTo>
                  <a:pt x="0" y="0"/>
                </a:lnTo>
                <a:lnTo>
                  <a:pt x="3203309" y="0"/>
                </a:lnTo>
                <a:lnTo>
                  <a:pt x="3203309" y="51365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5400000">
            <a:off x="525138" y="8469570"/>
            <a:ext cx="1196001" cy="1577460"/>
          </a:xfrm>
          <a:custGeom>
            <a:avLst/>
            <a:gdLst/>
            <a:ahLst/>
            <a:cxnLst/>
            <a:rect r="r" b="b" t="t" l="l"/>
            <a:pathLst>
              <a:path h="1577460" w="1196001">
                <a:moveTo>
                  <a:pt x="1196001" y="1577460"/>
                </a:moveTo>
                <a:lnTo>
                  <a:pt x="0" y="1577460"/>
                </a:lnTo>
                <a:lnTo>
                  <a:pt x="0" y="0"/>
                </a:lnTo>
                <a:lnTo>
                  <a:pt x="1196001" y="0"/>
                </a:lnTo>
                <a:lnTo>
                  <a:pt x="1196001" y="157746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400000">
            <a:off x="16386928" y="8477155"/>
            <a:ext cx="1196001" cy="1577460"/>
          </a:xfrm>
          <a:custGeom>
            <a:avLst/>
            <a:gdLst/>
            <a:ahLst/>
            <a:cxnLst/>
            <a:rect r="r" b="b" t="t" l="l"/>
            <a:pathLst>
              <a:path h="1577460" w="1196001">
                <a:moveTo>
                  <a:pt x="0" y="0"/>
                </a:moveTo>
                <a:lnTo>
                  <a:pt x="1196001" y="0"/>
                </a:lnTo>
                <a:lnTo>
                  <a:pt x="1196001" y="1577459"/>
                </a:lnTo>
                <a:lnTo>
                  <a:pt x="0" y="15774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8583080" y="9258300"/>
            <a:ext cx="1121840" cy="422199"/>
          </a:xfrm>
          <a:custGeom>
            <a:avLst/>
            <a:gdLst/>
            <a:ahLst/>
            <a:cxnLst/>
            <a:rect r="r" b="b" t="t" l="l"/>
            <a:pathLst>
              <a:path h="422199" w="1121840">
                <a:moveTo>
                  <a:pt x="0" y="0"/>
                </a:moveTo>
                <a:lnTo>
                  <a:pt x="1121840" y="0"/>
                </a:lnTo>
                <a:lnTo>
                  <a:pt x="1121840" y="422199"/>
                </a:lnTo>
                <a:lnTo>
                  <a:pt x="0" y="422199"/>
                </a:lnTo>
                <a:lnTo>
                  <a:pt x="0" y="0"/>
                </a:lnTo>
                <a:close/>
              </a:path>
            </a:pathLst>
          </a:custGeom>
          <a:blipFill>
            <a:blip r:embed="rId6">
              <a:extLst>
                <a:ext uri="{96DAC541-7B7A-43D3-8B79-37D633B846F1}">
                  <asvg:svgBlip xmlns:asvg="http://schemas.microsoft.com/office/drawing/2016/SVG/main" r:embed="rId7"/>
                </a:ext>
              </a:extLst>
            </a:blip>
            <a:stretch>
              <a:fillRect l="0" t="-360269" r="-71960" b="0"/>
            </a:stretch>
          </a:blipFill>
        </p:spPr>
      </p:sp>
      <p:sp>
        <p:nvSpPr>
          <p:cNvPr name="Freeform 7" id="7"/>
          <p:cNvSpPr/>
          <p:nvPr/>
        </p:nvSpPr>
        <p:spPr>
          <a:xfrm flipH="false" flipV="false" rot="0">
            <a:off x="10525617" y="1925910"/>
            <a:ext cx="6915067" cy="3786440"/>
          </a:xfrm>
          <a:custGeom>
            <a:avLst/>
            <a:gdLst/>
            <a:ahLst/>
            <a:cxnLst/>
            <a:rect r="r" b="b" t="t" l="l"/>
            <a:pathLst>
              <a:path h="3786440" w="6915067">
                <a:moveTo>
                  <a:pt x="0" y="0"/>
                </a:moveTo>
                <a:lnTo>
                  <a:pt x="6915067" y="0"/>
                </a:lnTo>
                <a:lnTo>
                  <a:pt x="6915067" y="3786440"/>
                </a:lnTo>
                <a:lnTo>
                  <a:pt x="0" y="3786440"/>
                </a:lnTo>
                <a:lnTo>
                  <a:pt x="0" y="0"/>
                </a:lnTo>
                <a:close/>
              </a:path>
            </a:pathLst>
          </a:custGeom>
          <a:blipFill>
            <a:blip r:embed="rId8"/>
            <a:stretch>
              <a:fillRect l="-2915" t="-11858" r="-3337" b="-11119"/>
            </a:stretch>
          </a:blipFill>
        </p:spPr>
      </p:sp>
      <p:sp>
        <p:nvSpPr>
          <p:cNvPr name="Freeform 8" id="8"/>
          <p:cNvSpPr/>
          <p:nvPr/>
        </p:nvSpPr>
        <p:spPr>
          <a:xfrm flipH="false" flipV="false" rot="0">
            <a:off x="10525617" y="6128625"/>
            <a:ext cx="6003556" cy="2390095"/>
          </a:xfrm>
          <a:custGeom>
            <a:avLst/>
            <a:gdLst/>
            <a:ahLst/>
            <a:cxnLst/>
            <a:rect r="r" b="b" t="t" l="l"/>
            <a:pathLst>
              <a:path h="2390095" w="6003556">
                <a:moveTo>
                  <a:pt x="0" y="0"/>
                </a:moveTo>
                <a:lnTo>
                  <a:pt x="6003556" y="0"/>
                </a:lnTo>
                <a:lnTo>
                  <a:pt x="6003556" y="2390095"/>
                </a:lnTo>
                <a:lnTo>
                  <a:pt x="0" y="2390095"/>
                </a:lnTo>
                <a:lnTo>
                  <a:pt x="0" y="0"/>
                </a:lnTo>
                <a:close/>
              </a:path>
            </a:pathLst>
          </a:custGeom>
          <a:blipFill>
            <a:blip r:embed="rId9"/>
            <a:stretch>
              <a:fillRect l="0" t="0" r="0" b="0"/>
            </a:stretch>
          </a:blipFill>
        </p:spPr>
      </p:sp>
      <p:sp>
        <p:nvSpPr>
          <p:cNvPr name="TextBox 9" id="9"/>
          <p:cNvSpPr txBox="true"/>
          <p:nvPr/>
        </p:nvSpPr>
        <p:spPr>
          <a:xfrm rot="0">
            <a:off x="3780069" y="249556"/>
            <a:ext cx="9181688" cy="1429384"/>
          </a:xfrm>
          <a:prstGeom prst="rect">
            <a:avLst/>
          </a:prstGeom>
        </p:spPr>
        <p:txBody>
          <a:bodyPr anchor="t" rtlCol="false" tIns="0" lIns="0" bIns="0" rIns="0">
            <a:spAutoFit/>
          </a:bodyPr>
          <a:lstStyle/>
          <a:p>
            <a:pPr algn="l">
              <a:lnSpc>
                <a:spcPts val="5740"/>
              </a:lnSpc>
              <a:spcBef>
                <a:spcPct val="0"/>
              </a:spcBef>
            </a:pPr>
            <a:r>
              <a:rPr lang="en-US" b="true" sz="4100" spc="-200">
                <a:solidFill>
                  <a:srgbClr val="FFFFFF"/>
                </a:solidFill>
                <a:latin typeface="Open Sauce Bold"/>
                <a:ea typeface="Open Sauce Bold"/>
                <a:cs typeface="Open Sauce Bold"/>
                <a:sym typeface="Open Sauce Bold"/>
              </a:rPr>
              <a:t>Different Possibilities but Reliable Outcome:</a:t>
            </a:r>
          </a:p>
        </p:txBody>
      </p:sp>
      <p:sp>
        <p:nvSpPr>
          <p:cNvPr name="TextBox 10" id="10"/>
          <p:cNvSpPr txBox="true"/>
          <p:nvPr/>
        </p:nvSpPr>
        <p:spPr>
          <a:xfrm rot="0">
            <a:off x="6375204" y="989967"/>
            <a:ext cx="9064072" cy="688974"/>
          </a:xfrm>
          <a:prstGeom prst="rect">
            <a:avLst/>
          </a:prstGeom>
        </p:spPr>
        <p:txBody>
          <a:bodyPr anchor="t" rtlCol="false" tIns="0" lIns="0" bIns="0" rIns="0">
            <a:spAutoFit/>
          </a:bodyPr>
          <a:lstStyle/>
          <a:p>
            <a:pPr algn="l">
              <a:lnSpc>
                <a:spcPts val="5600"/>
              </a:lnSpc>
              <a:spcBef>
                <a:spcPct val="0"/>
              </a:spcBef>
            </a:pPr>
            <a:r>
              <a:rPr lang="en-US" b="true" sz="4000" spc="-196">
                <a:solidFill>
                  <a:srgbClr val="79E920"/>
                </a:solidFill>
                <a:latin typeface="Open Sauce Bold"/>
                <a:ea typeface="Open Sauce Bold"/>
                <a:cs typeface="Open Sauce Bold"/>
                <a:sym typeface="Open Sauce Bold"/>
              </a:rPr>
              <a:t>Physics-Informed Byte Streams (PIBS)</a:t>
            </a:r>
          </a:p>
        </p:txBody>
      </p:sp>
      <p:sp>
        <p:nvSpPr>
          <p:cNvPr name="TextBox 11" id="11"/>
          <p:cNvSpPr txBox="true"/>
          <p:nvPr/>
        </p:nvSpPr>
        <p:spPr>
          <a:xfrm rot="0">
            <a:off x="174312" y="3781030"/>
            <a:ext cx="8676220" cy="4657090"/>
          </a:xfrm>
          <a:prstGeom prst="rect">
            <a:avLst/>
          </a:prstGeom>
        </p:spPr>
        <p:txBody>
          <a:bodyPr anchor="t" rtlCol="false" tIns="0" lIns="0" bIns="0" rIns="0">
            <a:spAutoFit/>
          </a:bodyPr>
          <a:lstStyle/>
          <a:p>
            <a:pPr algn="l" marL="410209" indent="-205105" lvl="1">
              <a:lnSpc>
                <a:spcPts val="2659"/>
              </a:lnSpc>
              <a:buFont typeface="Arial"/>
              <a:buChar char="•"/>
            </a:pPr>
            <a:r>
              <a:rPr lang="en-US" b="true" sz="1899">
                <a:solidFill>
                  <a:srgbClr val="79E920"/>
                </a:solidFill>
                <a:latin typeface="Canva Sans Bold"/>
                <a:ea typeface="Canva Sans Bold"/>
                <a:cs typeface="Canva Sans Bold"/>
                <a:sym typeface="Canva Sans Bold"/>
              </a:rPr>
              <a:t>1. </a:t>
            </a:r>
            <a:r>
              <a:rPr lang="en-US" b="true" sz="1899">
                <a:solidFill>
                  <a:srgbClr val="79E920"/>
                </a:solidFill>
                <a:latin typeface="Canva Sans Bold"/>
                <a:ea typeface="Canva Sans Bold"/>
                <a:cs typeface="Canva Sans Bold"/>
                <a:sym typeface="Canva Sans Bold"/>
              </a:rPr>
              <a:t>Symmetry &amp; Equivariance</a:t>
            </a:r>
          </a:p>
          <a:p>
            <a:pPr algn="l" marL="820419" indent="-273473" lvl="2">
              <a:lnSpc>
                <a:spcPts val="2659"/>
              </a:lnSpc>
              <a:buFont typeface="Arial"/>
              <a:buChar char="⚬"/>
            </a:pPr>
            <a:r>
              <a:rPr lang="en-US" b="true" sz="1899">
                <a:solidFill>
                  <a:srgbClr val="79E920"/>
                </a:solidFill>
                <a:latin typeface="Canva Sans Bold"/>
                <a:ea typeface="Canva Sans Bold"/>
                <a:cs typeface="Canva Sans Bold"/>
                <a:sym typeface="Canva Sans Bold"/>
              </a:rPr>
              <a:t>Equivariant Mapping</a:t>
            </a:r>
            <a:r>
              <a:rPr lang="en-US" sz="1899">
                <a:solidFill>
                  <a:srgbClr val="FFFFFF"/>
                </a:solidFill>
                <a:latin typeface="Canva Sans"/>
                <a:ea typeface="Canva Sans"/>
                <a:cs typeface="Canva Sans"/>
                <a:sym typeface="Canva Sans"/>
              </a:rPr>
              <a:t> in the embedding layer ensures identical physical signals are processed consistently, regardless of their position within the byte stream.</a:t>
            </a:r>
          </a:p>
          <a:p>
            <a:pPr algn="l">
              <a:lnSpc>
                <a:spcPts val="2659"/>
              </a:lnSpc>
            </a:pPr>
          </a:p>
          <a:p>
            <a:pPr algn="l" marL="410209" indent="-205105" lvl="1">
              <a:lnSpc>
                <a:spcPts val="2659"/>
              </a:lnSpc>
              <a:buFont typeface="Arial"/>
              <a:buChar char="•"/>
            </a:pPr>
            <a:r>
              <a:rPr lang="en-US" b="true" sz="1899">
                <a:solidFill>
                  <a:srgbClr val="FFFFFF"/>
                </a:solidFill>
                <a:latin typeface="Canva Sans Bold"/>
                <a:ea typeface="Canva Sans Bold"/>
                <a:cs typeface="Canva Sans Bold"/>
                <a:sym typeface="Canva Sans Bold"/>
              </a:rPr>
              <a:t>2. </a:t>
            </a:r>
            <a:r>
              <a:rPr lang="en-US" b="true" sz="1899">
                <a:solidFill>
                  <a:srgbClr val="79E920"/>
                </a:solidFill>
                <a:latin typeface="Canva Sans Bold"/>
                <a:ea typeface="Canva Sans Bold"/>
                <a:cs typeface="Canva Sans Bold"/>
                <a:sym typeface="Canva Sans Bold"/>
              </a:rPr>
              <a:t>Conservation Priors</a:t>
            </a:r>
          </a:p>
          <a:p>
            <a:pPr algn="l" marL="820419" indent="-273473" lvl="2">
              <a:lnSpc>
                <a:spcPts val="2659"/>
              </a:lnSpc>
              <a:buFont typeface="Arial"/>
              <a:buChar char="⚬"/>
            </a:pPr>
            <a:r>
              <a:rPr lang="en-US" sz="1899">
                <a:solidFill>
                  <a:srgbClr val="FFFFFF"/>
                </a:solidFill>
                <a:latin typeface="Canva Sans"/>
                <a:ea typeface="Canva Sans"/>
                <a:cs typeface="Canva Sans"/>
                <a:sym typeface="Canva Sans"/>
              </a:rPr>
              <a:t>An Auxiliary Physics Loss penalizes predictions that violate local energy or charge conservation, mapping byte indices directly to physical energy levels.</a:t>
            </a:r>
          </a:p>
          <a:p>
            <a:pPr algn="l">
              <a:lnSpc>
                <a:spcPts val="2659"/>
              </a:lnSpc>
            </a:pP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3. </a:t>
            </a:r>
            <a:r>
              <a:rPr lang="en-US" sz="1899">
                <a:solidFill>
                  <a:srgbClr val="79E920"/>
                </a:solidFill>
                <a:latin typeface="Canva Sans"/>
                <a:ea typeface="Canva Sans"/>
                <a:cs typeface="Canva Sans"/>
                <a:sym typeface="Canva Sans"/>
              </a:rPr>
              <a:t>Scientific Value</a:t>
            </a:r>
          </a:p>
          <a:p>
            <a:pPr algn="l" marL="820419" indent="-273473" lvl="2">
              <a:lnSpc>
                <a:spcPts val="2659"/>
              </a:lnSpc>
              <a:buFont typeface="Arial"/>
              <a:buChar char="⚬"/>
            </a:pPr>
            <a:r>
              <a:rPr lang="en-US" sz="1899">
                <a:solidFill>
                  <a:srgbClr val="FFFFFF"/>
                </a:solidFill>
                <a:latin typeface="Canva Sans"/>
                <a:ea typeface="Canva Sans"/>
                <a:cs typeface="Canva Sans"/>
                <a:sym typeface="Canva Sans"/>
              </a:rPr>
              <a:t>Physical constraints prune the search space, enabling the model to hit the 0.92 BPB entropy floor with fewer parameters and faster convergence.</a:t>
            </a:r>
          </a:p>
        </p:txBody>
      </p:sp>
      <p:sp>
        <p:nvSpPr>
          <p:cNvPr name="TextBox 12" id="12"/>
          <p:cNvSpPr txBox="true"/>
          <p:nvPr/>
        </p:nvSpPr>
        <p:spPr>
          <a:xfrm rot="0">
            <a:off x="572843" y="2495790"/>
            <a:ext cx="9704920" cy="132334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Canva Sans"/>
                <a:ea typeface="Canva Sans"/>
                <a:cs typeface="Canva Sans"/>
                <a:sym typeface="Canva Sans"/>
              </a:rPr>
              <a:t>Standard neural compression ignores physical context, treating detector data as arbitrary symbols. By implementing Physics-Informed Neural Network (PINN) logic, we force the model to respect the underlying physical laws of High-Energy Physics (HEP) during compression.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true" rot="0">
            <a:off x="16680530" y="-1539550"/>
            <a:ext cx="3203309" cy="5136501"/>
          </a:xfrm>
          <a:custGeom>
            <a:avLst/>
            <a:gdLst/>
            <a:ahLst/>
            <a:cxnLst/>
            <a:rect r="r" b="b" t="t" l="l"/>
            <a:pathLst>
              <a:path h="5136501" w="3203309">
                <a:moveTo>
                  <a:pt x="0" y="5136500"/>
                </a:moveTo>
                <a:lnTo>
                  <a:pt x="3203309" y="5136500"/>
                </a:lnTo>
                <a:lnTo>
                  <a:pt x="3203309" y="0"/>
                </a:lnTo>
                <a:lnTo>
                  <a:pt x="0" y="0"/>
                </a:lnTo>
                <a:lnTo>
                  <a:pt x="0" y="51365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595839" y="-1539550"/>
            <a:ext cx="3203309" cy="5136501"/>
          </a:xfrm>
          <a:custGeom>
            <a:avLst/>
            <a:gdLst/>
            <a:ahLst/>
            <a:cxnLst/>
            <a:rect r="r" b="b" t="t" l="l"/>
            <a:pathLst>
              <a:path h="5136501" w="3203309">
                <a:moveTo>
                  <a:pt x="3203309" y="5136500"/>
                </a:moveTo>
                <a:lnTo>
                  <a:pt x="0" y="5136500"/>
                </a:lnTo>
                <a:lnTo>
                  <a:pt x="0" y="0"/>
                </a:lnTo>
                <a:lnTo>
                  <a:pt x="3203309" y="0"/>
                </a:lnTo>
                <a:lnTo>
                  <a:pt x="3203309" y="51365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5400000">
            <a:off x="430699" y="8680670"/>
            <a:ext cx="1196001" cy="1577460"/>
          </a:xfrm>
          <a:custGeom>
            <a:avLst/>
            <a:gdLst/>
            <a:ahLst/>
            <a:cxnLst/>
            <a:rect r="r" b="b" t="t" l="l"/>
            <a:pathLst>
              <a:path h="1577460" w="1196001">
                <a:moveTo>
                  <a:pt x="1196002" y="1577459"/>
                </a:moveTo>
                <a:lnTo>
                  <a:pt x="0" y="1577459"/>
                </a:lnTo>
                <a:lnTo>
                  <a:pt x="0" y="0"/>
                </a:lnTo>
                <a:lnTo>
                  <a:pt x="1196002" y="0"/>
                </a:lnTo>
                <a:lnTo>
                  <a:pt x="1196002" y="15774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400000">
            <a:off x="16661299" y="8680670"/>
            <a:ext cx="1196001" cy="1577460"/>
          </a:xfrm>
          <a:custGeom>
            <a:avLst/>
            <a:gdLst/>
            <a:ahLst/>
            <a:cxnLst/>
            <a:rect r="r" b="b" t="t" l="l"/>
            <a:pathLst>
              <a:path h="1577460" w="1196001">
                <a:moveTo>
                  <a:pt x="0" y="0"/>
                </a:moveTo>
                <a:lnTo>
                  <a:pt x="1196002" y="0"/>
                </a:lnTo>
                <a:lnTo>
                  <a:pt x="1196002" y="1577459"/>
                </a:lnTo>
                <a:lnTo>
                  <a:pt x="0" y="15774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8583080" y="9258300"/>
            <a:ext cx="1121840" cy="422199"/>
          </a:xfrm>
          <a:custGeom>
            <a:avLst/>
            <a:gdLst/>
            <a:ahLst/>
            <a:cxnLst/>
            <a:rect r="r" b="b" t="t" l="l"/>
            <a:pathLst>
              <a:path h="422199" w="1121840">
                <a:moveTo>
                  <a:pt x="0" y="0"/>
                </a:moveTo>
                <a:lnTo>
                  <a:pt x="1121840" y="0"/>
                </a:lnTo>
                <a:lnTo>
                  <a:pt x="1121840" y="422199"/>
                </a:lnTo>
                <a:lnTo>
                  <a:pt x="0" y="422199"/>
                </a:lnTo>
                <a:lnTo>
                  <a:pt x="0" y="0"/>
                </a:lnTo>
                <a:close/>
              </a:path>
            </a:pathLst>
          </a:custGeom>
          <a:blipFill>
            <a:blip r:embed="rId6">
              <a:extLst>
                <a:ext uri="{96DAC541-7B7A-43D3-8B79-37D633B846F1}">
                  <asvg:svgBlip xmlns:asvg="http://schemas.microsoft.com/office/drawing/2016/SVG/main" r:embed="rId7"/>
                </a:ext>
              </a:extLst>
            </a:blip>
            <a:stretch>
              <a:fillRect l="0" t="-360269" r="-71960" b="0"/>
            </a:stretch>
          </a:blipFill>
        </p:spPr>
      </p:sp>
      <p:graphicFrame>
        <p:nvGraphicFramePr>
          <p:cNvPr name="Table 7" id="7"/>
          <p:cNvGraphicFramePr>
            <a:graphicFrameLocks noGrp="true"/>
          </p:cNvGraphicFramePr>
          <p:nvPr/>
        </p:nvGraphicFramePr>
        <p:xfrm>
          <a:off x="409656" y="2867025"/>
          <a:ext cx="9295264" cy="5267325"/>
        </p:xfrm>
        <a:graphic>
          <a:graphicData uri="http://schemas.openxmlformats.org/drawingml/2006/table">
            <a:tbl>
              <a:tblPr/>
              <a:tblGrid>
                <a:gridCol w="2802646"/>
                <a:gridCol w="2802646"/>
                <a:gridCol w="2802646"/>
                <a:gridCol w="887325"/>
              </a:tblGrid>
              <a:tr h="1352810">
                <a:tc>
                  <a:txBody>
                    <a:bodyPr anchor="t" rtlCol="false"/>
                    <a:lstStyle/>
                    <a:p>
                      <a:pPr algn="ctr">
                        <a:lnSpc>
                          <a:spcPts val="2380"/>
                        </a:lnSpc>
                        <a:defRPr/>
                      </a:pPr>
                      <a:r>
                        <a:rPr lang="en-US" sz="1700" b="true">
                          <a:solidFill>
                            <a:srgbClr val="FFFFFF"/>
                          </a:solidFill>
                          <a:latin typeface="Canva Sans Bold"/>
                          <a:ea typeface="Canva Sans Bold"/>
                          <a:cs typeface="Canva Sans Bold"/>
                          <a:sym typeface="Canva Sans Bold"/>
                        </a:rPr>
                        <a:t>Architecture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380"/>
                        </a:lnSpc>
                        <a:defRPr/>
                      </a:pPr>
                      <a:r>
                        <a:rPr lang="en-US" sz="1700" b="true">
                          <a:solidFill>
                            <a:srgbClr val="FFFFFF"/>
                          </a:solidFill>
                          <a:latin typeface="Canva Sans Bold"/>
                          <a:ea typeface="Canva Sans Bold"/>
                          <a:cs typeface="Canva Sans Bold"/>
                          <a:sym typeface="Canva Sans Bold"/>
                        </a:rPr>
                        <a:t>Scaling Logic</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380"/>
                        </a:lnSpc>
                        <a:defRPr/>
                      </a:pPr>
                      <a:r>
                        <a:rPr lang="en-US" sz="1700" b="true">
                          <a:solidFill>
                            <a:srgbClr val="FFFFFF"/>
                          </a:solidFill>
                          <a:latin typeface="Canva Sans Bold"/>
                          <a:ea typeface="Canva Sans Bold"/>
                          <a:cs typeface="Canva Sans Bold"/>
                          <a:sym typeface="Canva Sans Bold"/>
                        </a:rPr>
                        <a:t>HEP Strength</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380"/>
                        </a:lnSpc>
                        <a:defRPr/>
                      </a:pPr>
                      <a:r>
                        <a:rPr lang="en-US" sz="1700" b="true">
                          <a:solidFill>
                            <a:srgbClr val="FFFFFF"/>
                          </a:solidFill>
                          <a:latin typeface="Canva Sans Bold"/>
                          <a:ea typeface="Canva Sans Bold"/>
                          <a:cs typeface="Canva Sans Bold"/>
                          <a:sym typeface="Canva Sans Bold"/>
                        </a:rPr>
                        <a:t>Target BPB</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757958">
                <a:tc>
                  <a:txBody>
                    <a:bodyPr anchor="t" rtlCol="false"/>
                    <a:lstStyle/>
                    <a:p>
                      <a:pPr algn="ctr">
                        <a:lnSpc>
                          <a:spcPts val="2380"/>
                        </a:lnSpc>
                        <a:defRPr/>
                      </a:pPr>
                      <a:r>
                        <a:rPr lang="en-US" sz="1700">
                          <a:solidFill>
                            <a:srgbClr val="FFFFFF"/>
                          </a:solidFill>
                          <a:latin typeface="Canva Sans"/>
                          <a:ea typeface="Canva Sans"/>
                          <a:cs typeface="Canva Sans"/>
                          <a:sym typeface="Canva Sans"/>
                        </a:rPr>
                        <a:t>Standard Transformer</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380"/>
                        </a:lnSpc>
                        <a:defRPr/>
                      </a:pPr>
                      <a:r>
                        <a:rPr lang="en-US" sz="1700">
                          <a:solidFill>
                            <a:srgbClr val="FFFFFF"/>
                          </a:solidFill>
                          <a:latin typeface="Canva Sans"/>
                          <a:ea typeface="Canva Sans"/>
                          <a:cs typeface="Canva Sans"/>
                          <a:sym typeface="Canva Sans"/>
                        </a:rPr>
                        <a:t>Quadratic Attention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380"/>
                        </a:lnSpc>
                        <a:defRPr/>
                      </a:pPr>
                      <a:r>
                        <a:rPr lang="en-US" sz="1700">
                          <a:solidFill>
                            <a:srgbClr val="FFFFFF"/>
                          </a:solidFill>
                          <a:latin typeface="Canva Sans"/>
                          <a:ea typeface="Canva Sans"/>
                          <a:cs typeface="Canva Sans"/>
                          <a:sym typeface="Canva Sans"/>
                        </a:rPr>
                        <a:t>Local Detail</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380"/>
                        </a:lnSpc>
                        <a:defRPr/>
                      </a:pPr>
                      <a:r>
                        <a:rPr lang="en-US" sz="1700">
                          <a:solidFill>
                            <a:srgbClr val="FFFFFF"/>
                          </a:solidFill>
                          <a:latin typeface="Canva Sans"/>
                          <a:ea typeface="Canva Sans"/>
                          <a:cs typeface="Canva Sans"/>
                          <a:sym typeface="Canva Sans"/>
                        </a:rPr>
                        <a:t>1.32</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757958">
                <a:tc>
                  <a:txBody>
                    <a:bodyPr anchor="t" rtlCol="false"/>
                    <a:lstStyle/>
                    <a:p>
                      <a:pPr algn="ctr">
                        <a:lnSpc>
                          <a:spcPts val="2380"/>
                        </a:lnSpc>
                        <a:defRPr/>
                      </a:pPr>
                      <a:r>
                        <a:rPr lang="en-US" sz="1700">
                          <a:solidFill>
                            <a:srgbClr val="FFFFFF"/>
                          </a:solidFill>
                          <a:latin typeface="Canva Sans"/>
                          <a:ea typeface="Canva Sans"/>
                          <a:cs typeface="Canva Sans"/>
                          <a:sym typeface="Canva Sans"/>
                        </a:rPr>
                        <a:t>Causal CNN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380"/>
                        </a:lnSpc>
                        <a:defRPr/>
                      </a:pPr>
                      <a:r>
                        <a:rPr lang="en-US" sz="1700">
                          <a:solidFill>
                            <a:srgbClr val="FFFFFF"/>
                          </a:solidFill>
                          <a:latin typeface="Canva Sans"/>
                          <a:ea typeface="Canva Sans"/>
                          <a:cs typeface="Canva Sans"/>
                          <a:sym typeface="Canva Sans"/>
                        </a:rPr>
                        <a:t>Local Receptive Fields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380"/>
                        </a:lnSpc>
                        <a:defRPr/>
                      </a:pPr>
                      <a:r>
                        <a:rPr lang="en-US" sz="1700">
                          <a:solidFill>
                            <a:srgbClr val="FFFFFF"/>
                          </a:solidFill>
                          <a:latin typeface="Canva Sans"/>
                          <a:ea typeface="Canva Sans"/>
                          <a:cs typeface="Canva Sans"/>
                          <a:sym typeface="Canva Sans"/>
                        </a:rPr>
                        <a:t>Structural Matching</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380"/>
                        </a:lnSpc>
                        <a:defRPr/>
                      </a:pPr>
                      <a:r>
                        <a:rPr lang="en-US" sz="1700">
                          <a:solidFill>
                            <a:srgbClr val="FFFFFF"/>
                          </a:solidFill>
                          <a:latin typeface="Canva Sans"/>
                          <a:ea typeface="Canva Sans"/>
                          <a:cs typeface="Canva Sans"/>
                          <a:sym typeface="Canva Sans"/>
                        </a:rPr>
                        <a:t>1.48</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757958">
                <a:tc>
                  <a:txBody>
                    <a:bodyPr anchor="t" rtlCol="false"/>
                    <a:lstStyle/>
                    <a:p>
                      <a:pPr algn="ctr">
                        <a:lnSpc>
                          <a:spcPts val="2380"/>
                        </a:lnSpc>
                        <a:defRPr/>
                      </a:pPr>
                      <a:r>
                        <a:rPr lang="en-US" sz="1700">
                          <a:solidFill>
                            <a:srgbClr val="FFFFFF"/>
                          </a:solidFill>
                          <a:latin typeface="Canva Sans"/>
                          <a:ea typeface="Canva Sans"/>
                          <a:cs typeface="Canva Sans"/>
                          <a:sym typeface="Canva Sans"/>
                        </a:rPr>
                        <a:t>MinGRU</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380"/>
                        </a:lnSpc>
                        <a:defRPr/>
                      </a:pPr>
                      <a:r>
                        <a:rPr lang="en-US" sz="1700">
                          <a:solidFill>
                            <a:srgbClr val="FFFFFF"/>
                          </a:solidFill>
                          <a:latin typeface="Canva Sans"/>
                          <a:ea typeface="Canva Sans"/>
                          <a:cs typeface="Canva Sans"/>
                          <a:sym typeface="Canva Sans"/>
                        </a:rPr>
                        <a:t>Gated Recurrence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380"/>
                        </a:lnSpc>
                        <a:defRPr/>
                      </a:pPr>
                      <a:r>
                        <a:rPr lang="en-US" sz="1700">
                          <a:solidFill>
                            <a:srgbClr val="FFFFFF"/>
                          </a:solidFill>
                          <a:latin typeface="Canva Sans"/>
                          <a:ea typeface="Canva Sans"/>
                          <a:cs typeface="Canva Sans"/>
                          <a:sym typeface="Canva Sans"/>
                        </a:rPr>
                        <a:t>Low Latency</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380"/>
                        </a:lnSpc>
                        <a:defRPr/>
                      </a:pPr>
                      <a:r>
                        <a:rPr lang="en-US" sz="1700">
                          <a:solidFill>
                            <a:srgbClr val="FFFFFF"/>
                          </a:solidFill>
                          <a:latin typeface="Canva Sans"/>
                          <a:ea typeface="Canva Sans"/>
                          <a:cs typeface="Canva Sans"/>
                          <a:sym typeface="Canva Sans"/>
                        </a:rPr>
                        <a:t>1.38</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757958">
                <a:tc>
                  <a:txBody>
                    <a:bodyPr anchor="t" rtlCol="false"/>
                    <a:lstStyle/>
                    <a:p>
                      <a:pPr algn="ctr">
                        <a:lnSpc>
                          <a:spcPts val="2380"/>
                        </a:lnSpc>
                        <a:defRPr/>
                      </a:pPr>
                      <a:r>
                        <a:rPr lang="en-US" sz="1700">
                          <a:solidFill>
                            <a:srgbClr val="FFFFFF"/>
                          </a:solidFill>
                          <a:latin typeface="Canva Sans"/>
                          <a:ea typeface="Canva Sans"/>
                          <a:cs typeface="Canva Sans"/>
                          <a:sym typeface="Canva Sans"/>
                        </a:rPr>
                        <a:t>Pure Mamba</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380"/>
                        </a:lnSpc>
                        <a:defRPr/>
                      </a:pPr>
                      <a:r>
                        <a:rPr lang="en-US" sz="1700">
                          <a:solidFill>
                            <a:srgbClr val="FFFFFF"/>
                          </a:solidFill>
                          <a:latin typeface="Canva Sans"/>
                          <a:ea typeface="Canva Sans"/>
                          <a:cs typeface="Canva Sans"/>
                          <a:sym typeface="Canva Sans"/>
                        </a:rPr>
                        <a:t>Selective SSM</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380"/>
                        </a:lnSpc>
                        <a:defRPr/>
                      </a:pPr>
                      <a:r>
                        <a:rPr lang="en-US" sz="1700">
                          <a:solidFill>
                            <a:srgbClr val="FFFFFF"/>
                          </a:solidFill>
                          <a:latin typeface="Canva Sans"/>
                          <a:ea typeface="Canva Sans"/>
                          <a:cs typeface="Canva Sans"/>
                          <a:sym typeface="Canva Sans"/>
                        </a:rPr>
                        <a:t>Global Context</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380"/>
                        </a:lnSpc>
                        <a:defRPr/>
                      </a:pPr>
                      <a:r>
                        <a:rPr lang="en-US" sz="1700">
                          <a:solidFill>
                            <a:srgbClr val="FFFFFF"/>
                          </a:solidFill>
                          <a:latin typeface="Canva Sans"/>
                          <a:ea typeface="Canva Sans"/>
                          <a:cs typeface="Canva Sans"/>
                          <a:sym typeface="Canva Sans"/>
                        </a:rPr>
                        <a:t>1.25</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82685">
                <a:tc>
                  <a:txBody>
                    <a:bodyPr anchor="t" rtlCol="false"/>
                    <a:lstStyle/>
                    <a:p>
                      <a:pPr algn="ctr">
                        <a:lnSpc>
                          <a:spcPts val="2380"/>
                        </a:lnSpc>
                        <a:defRPr/>
                      </a:pPr>
                      <a:r>
                        <a:rPr lang="en-US" sz="1700">
                          <a:solidFill>
                            <a:srgbClr val="FFFFFF"/>
                          </a:solidFill>
                          <a:latin typeface="Canva Sans"/>
                          <a:ea typeface="Canva Sans"/>
                          <a:cs typeface="Canva Sans"/>
                          <a:sym typeface="Canva Sans"/>
                        </a:rPr>
                        <a:t>HybridPillar++</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380"/>
                        </a:lnSpc>
                        <a:defRPr/>
                      </a:pPr>
                      <a:r>
                        <a:rPr lang="en-US" sz="1700">
                          <a:solidFill>
                            <a:srgbClr val="FFFFFF"/>
                          </a:solidFill>
                          <a:latin typeface="Canva Sans"/>
                          <a:ea typeface="Canva Sans"/>
                          <a:cs typeface="Canva Sans"/>
                          <a:sym typeface="Canva Sans"/>
                        </a:rPr>
                        <a:t>Hybrid Logic</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380"/>
                        </a:lnSpc>
                        <a:defRPr/>
                      </a:pPr>
                      <a:r>
                        <a:rPr lang="en-US" sz="1700">
                          <a:solidFill>
                            <a:srgbClr val="FFFFFF"/>
                          </a:solidFill>
                          <a:latin typeface="Canva Sans"/>
                          <a:ea typeface="Canva Sans"/>
                          <a:cs typeface="Canva Sans"/>
                          <a:sym typeface="Canva Sans"/>
                        </a:rPr>
                        <a:t>Local + Global</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380"/>
                        </a:lnSpc>
                        <a:defRPr/>
                      </a:pPr>
                      <a:r>
                        <a:rPr lang="en-US" sz="1700">
                          <a:solidFill>
                            <a:srgbClr val="FFFFFF"/>
                          </a:solidFill>
                          <a:latin typeface="Canva Sans"/>
                          <a:ea typeface="Canva Sans"/>
                          <a:cs typeface="Canva Sans"/>
                          <a:sym typeface="Canva Sans"/>
                        </a:rPr>
                        <a:t>0.92</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graphicFrame>
        <p:nvGraphicFramePr>
          <p:cNvPr name="Table 8" id="8"/>
          <p:cNvGraphicFramePr>
            <a:graphicFrameLocks noGrp="true"/>
          </p:cNvGraphicFramePr>
          <p:nvPr/>
        </p:nvGraphicFramePr>
        <p:xfrm>
          <a:off x="10096121" y="2876550"/>
          <a:ext cx="7773083" cy="5257800"/>
        </p:xfrm>
        <a:graphic>
          <a:graphicData uri="http://schemas.openxmlformats.org/drawingml/2006/table">
            <a:tbl>
              <a:tblPr/>
              <a:tblGrid>
                <a:gridCol w="1943271"/>
                <a:gridCol w="2003173"/>
                <a:gridCol w="1883369"/>
                <a:gridCol w="1943271"/>
              </a:tblGrid>
              <a:tr h="1141749">
                <a:tc>
                  <a:txBody>
                    <a:bodyPr anchor="t" rtlCol="false"/>
                    <a:lstStyle/>
                    <a:p>
                      <a:pPr algn="ctr">
                        <a:lnSpc>
                          <a:spcPts val="2659"/>
                        </a:lnSpc>
                        <a:defRPr/>
                      </a:pPr>
                      <a:r>
                        <a:rPr lang="en-US" sz="1899" b="true">
                          <a:solidFill>
                            <a:srgbClr val="FFFFFF"/>
                          </a:solidFill>
                          <a:latin typeface="Canva Sans Bold"/>
                          <a:ea typeface="Canva Sans Bold"/>
                          <a:cs typeface="Canva Sans Bold"/>
                          <a:sym typeface="Canva Sans Bold"/>
                        </a:rPr>
                        <a:t>Metric</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b="true">
                          <a:solidFill>
                            <a:srgbClr val="FFFFFF"/>
                          </a:solidFill>
                          <a:latin typeface="Canva Sans Bold"/>
                          <a:ea typeface="Canva Sans Bold"/>
                          <a:cs typeface="Canva Sans Bold"/>
                          <a:sym typeface="Canva Sans Bold"/>
                        </a:rPr>
                        <a:t>CMS Baseline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b="true">
                          <a:solidFill>
                            <a:srgbClr val="FFFFFF"/>
                          </a:solidFill>
                          <a:latin typeface="Canva Sans Bold"/>
                          <a:ea typeface="Canva Sans Bold"/>
                          <a:cs typeface="Canva Sans Bold"/>
                          <a:sym typeface="Canva Sans Bold"/>
                        </a:rPr>
                        <a:t>HybridPillar++</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b="true">
                          <a:solidFill>
                            <a:srgbClr val="FFFFFF"/>
                          </a:solidFill>
                          <a:latin typeface="Canva Sans Bold"/>
                          <a:ea typeface="Canva Sans Bold"/>
                          <a:cs typeface="Canva Sans Bold"/>
                          <a:sym typeface="Canva Sans Bold"/>
                        </a:rPr>
                        <a:t>BOA Mamba</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141749">
                <a:tc>
                  <a:txBody>
                    <a:bodyPr anchor="t" rtlCol="false"/>
                    <a:lstStyle/>
                    <a:p>
                      <a:pPr algn="ctr">
                        <a:lnSpc>
                          <a:spcPts val="2659"/>
                        </a:lnSpc>
                        <a:defRPr/>
                      </a:pPr>
                      <a:r>
                        <a:rPr lang="en-US" sz="1899" b="true">
                          <a:solidFill>
                            <a:srgbClr val="FFFFFF"/>
                          </a:solidFill>
                          <a:latin typeface="Canva Sans Bold"/>
                          <a:ea typeface="Canva Sans Bold"/>
                          <a:cs typeface="Canva Sans Bold"/>
                          <a:sym typeface="Canva Sans Bold"/>
                        </a:rPr>
                        <a:t>Entropy (BPB)</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b="true">
                          <a:solidFill>
                            <a:srgbClr val="FFFFFF"/>
                          </a:solidFill>
                          <a:latin typeface="Canva Sans Bold"/>
                          <a:ea typeface="Canva Sans Bold"/>
                          <a:cs typeface="Canva Sans Bold"/>
                          <a:sym typeface="Canva Sans Bold"/>
                        </a:rPr>
                        <a:t>8.00 (Raw)</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b="true">
                          <a:solidFill>
                            <a:srgbClr val="FFFFFF"/>
                          </a:solidFill>
                          <a:latin typeface="Canva Sans Bold"/>
                          <a:ea typeface="Canva Sans Bold"/>
                          <a:cs typeface="Canva Sans Bold"/>
                          <a:sym typeface="Canva Sans Bold"/>
                        </a:rPr>
                        <a:t>0.92</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b="true">
                          <a:solidFill>
                            <a:srgbClr val="FFFFFF"/>
                          </a:solidFill>
                          <a:latin typeface="Canva Sans Bold"/>
                          <a:ea typeface="Canva Sans Bold"/>
                          <a:cs typeface="Canva Sans Bold"/>
                          <a:sym typeface="Canva Sans Bold"/>
                        </a:rPr>
                        <a:t>1.25</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141749">
                <a:tc>
                  <a:txBody>
                    <a:bodyPr anchor="t" rtlCol="false"/>
                    <a:lstStyle/>
                    <a:p>
                      <a:pPr algn="ctr">
                        <a:lnSpc>
                          <a:spcPts val="2659"/>
                        </a:lnSpc>
                        <a:defRPr/>
                      </a:pPr>
                      <a:r>
                        <a:rPr lang="en-US" sz="1899">
                          <a:solidFill>
                            <a:srgbClr val="FFFFFF"/>
                          </a:solidFill>
                          <a:latin typeface="Canva Sans"/>
                          <a:ea typeface="Canva Sans"/>
                          <a:cs typeface="Canva Sans"/>
                          <a:sym typeface="Canva Sans"/>
                        </a:rPr>
                        <a:t>Storage Savings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Canva Sans"/>
                          <a:ea typeface="Canva Sans"/>
                          <a:cs typeface="Canva Sans"/>
                          <a:sym typeface="Canva Sans"/>
                        </a:rPr>
                        <a:t>0%</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Canva Sans"/>
                          <a:ea typeface="Canva Sans"/>
                          <a:cs typeface="Canva Sans"/>
                          <a:sym typeface="Canva Sans"/>
                        </a:rPr>
                        <a:t>88.5%</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Canva Sans"/>
                          <a:ea typeface="Canva Sans"/>
                          <a:cs typeface="Canva Sans"/>
                          <a:sym typeface="Canva Sans"/>
                        </a:rPr>
                        <a:t>84%</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026614">
                <a:tc>
                  <a:txBody>
                    <a:bodyPr anchor="t" rtlCol="false"/>
                    <a:lstStyle/>
                    <a:p>
                      <a:pPr algn="ctr">
                        <a:lnSpc>
                          <a:spcPts val="2659"/>
                        </a:lnSpc>
                        <a:defRPr/>
                      </a:pPr>
                      <a:r>
                        <a:rPr lang="en-US" sz="1899">
                          <a:solidFill>
                            <a:srgbClr val="FFFFFF"/>
                          </a:solidFill>
                          <a:latin typeface="Canva Sans"/>
                          <a:ea typeface="Canva Sans"/>
                          <a:cs typeface="Canva Sans"/>
                          <a:sym typeface="Canva Sans"/>
                        </a:rPr>
                        <a:t>Throughput</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Canva Sans"/>
                          <a:ea typeface="Canva Sans"/>
                          <a:cs typeface="Canva Sans"/>
                          <a:sym typeface="Canva Sans"/>
                        </a:rPr>
                        <a:t>10 GB/s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Canva Sans"/>
                          <a:ea typeface="Canva Sans"/>
                          <a:cs typeface="Canva Sans"/>
                          <a:sym typeface="Canva Sans"/>
                        </a:rPr>
                        <a:t>960 MB/s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Canva Sans"/>
                          <a:ea typeface="Canva Sans"/>
                          <a:cs typeface="Canva Sans"/>
                          <a:sym typeface="Canva Sans"/>
                        </a:rPr>
                        <a:t>820 MB/s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05940">
                <a:tc>
                  <a:txBody>
                    <a:bodyPr anchor="t" rtlCol="false"/>
                    <a:lstStyle/>
                    <a:p>
                      <a:pPr algn="ctr">
                        <a:lnSpc>
                          <a:spcPts val="2659"/>
                        </a:lnSpc>
                        <a:defRPr/>
                      </a:pPr>
                      <a:r>
                        <a:rPr lang="en-US" sz="1899">
                          <a:solidFill>
                            <a:srgbClr val="FFFFFF"/>
                          </a:solidFill>
                          <a:latin typeface="Canva Sans"/>
                          <a:ea typeface="Canva Sans"/>
                          <a:cs typeface="Canva Sans"/>
                          <a:sym typeface="Canva Sans"/>
                        </a:rPr>
                        <a:t>Fidelity</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Canva Sans"/>
                          <a:ea typeface="Canva Sans"/>
                          <a:cs typeface="Canva Sans"/>
                          <a:sym typeface="Canva Sans"/>
                        </a:rPr>
                        <a:t>Bit-Exact</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Canva Sans"/>
                          <a:ea typeface="Canva Sans"/>
                          <a:cs typeface="Canva Sans"/>
                          <a:sym typeface="Canva Sans"/>
                        </a:rPr>
                        <a:t>Bit-Exact</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Canva Sans"/>
                          <a:ea typeface="Canva Sans"/>
                          <a:cs typeface="Canva Sans"/>
                          <a:sym typeface="Canva Sans"/>
                        </a:rPr>
                        <a:t>Bit-Exact</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
        <p:nvSpPr>
          <p:cNvPr name="TextBox 9" id="9"/>
          <p:cNvSpPr txBox="true"/>
          <p:nvPr/>
        </p:nvSpPr>
        <p:spPr>
          <a:xfrm rot="0">
            <a:off x="3780069" y="249556"/>
            <a:ext cx="10652030" cy="705484"/>
          </a:xfrm>
          <a:prstGeom prst="rect">
            <a:avLst/>
          </a:prstGeom>
        </p:spPr>
        <p:txBody>
          <a:bodyPr anchor="t" rtlCol="false" tIns="0" lIns="0" bIns="0" rIns="0">
            <a:spAutoFit/>
          </a:bodyPr>
          <a:lstStyle/>
          <a:p>
            <a:pPr algn="l">
              <a:lnSpc>
                <a:spcPts val="5740"/>
              </a:lnSpc>
              <a:spcBef>
                <a:spcPct val="0"/>
              </a:spcBef>
            </a:pPr>
            <a:r>
              <a:rPr lang="en-US" b="true" sz="4100" spc="-200">
                <a:solidFill>
                  <a:srgbClr val="FFFFFF"/>
                </a:solidFill>
                <a:latin typeface="Open Sauce Bold"/>
                <a:ea typeface="Open Sauce Bold"/>
                <a:cs typeface="Open Sauce Bold"/>
                <a:sym typeface="Open Sauce Bold"/>
              </a:rPr>
              <a:t>Comparative Performance &amp; Benchmarking</a:t>
            </a:r>
          </a:p>
        </p:txBody>
      </p:sp>
      <p:sp>
        <p:nvSpPr>
          <p:cNvPr name="TextBox 10" id="10"/>
          <p:cNvSpPr txBox="true"/>
          <p:nvPr/>
        </p:nvSpPr>
        <p:spPr>
          <a:xfrm rot="0">
            <a:off x="6158010" y="1129666"/>
            <a:ext cx="4850140" cy="613409"/>
          </a:xfrm>
          <a:prstGeom prst="rect">
            <a:avLst/>
          </a:prstGeom>
        </p:spPr>
        <p:txBody>
          <a:bodyPr anchor="t" rtlCol="false" tIns="0" lIns="0" bIns="0" rIns="0">
            <a:spAutoFit/>
          </a:bodyPr>
          <a:lstStyle/>
          <a:p>
            <a:pPr algn="l">
              <a:lnSpc>
                <a:spcPts val="5040"/>
              </a:lnSpc>
              <a:spcBef>
                <a:spcPct val="0"/>
              </a:spcBef>
            </a:pPr>
            <a:r>
              <a:rPr lang="en-US" b="true" sz="3600" spc="-176">
                <a:solidFill>
                  <a:srgbClr val="79E920"/>
                </a:solidFill>
                <a:latin typeface="Open Sauce Bold"/>
                <a:ea typeface="Open Sauce Bold"/>
                <a:cs typeface="Open Sauce Bold"/>
                <a:sym typeface="Open Sauce Bold"/>
              </a:rPr>
              <a:t>with Sustainability Goal</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C2C2C">
                <a:alpha val="100000"/>
              </a:srgbClr>
            </a:gs>
            <a:gs pos="100000">
              <a:srgbClr val="000000">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true" rot="0">
            <a:off x="16674714" y="-1582714"/>
            <a:ext cx="3203309" cy="5136501"/>
          </a:xfrm>
          <a:custGeom>
            <a:avLst/>
            <a:gdLst/>
            <a:ahLst/>
            <a:cxnLst/>
            <a:rect r="r" b="b" t="t" l="l"/>
            <a:pathLst>
              <a:path h="5136501" w="3203309">
                <a:moveTo>
                  <a:pt x="0" y="5136501"/>
                </a:moveTo>
                <a:lnTo>
                  <a:pt x="3203309" y="5136501"/>
                </a:lnTo>
                <a:lnTo>
                  <a:pt x="3203309" y="0"/>
                </a:lnTo>
                <a:lnTo>
                  <a:pt x="0" y="0"/>
                </a:lnTo>
                <a:lnTo>
                  <a:pt x="0" y="51365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5400000">
            <a:off x="-608809" y="7636745"/>
            <a:ext cx="3251754" cy="5214183"/>
          </a:xfrm>
          <a:custGeom>
            <a:avLst/>
            <a:gdLst/>
            <a:ahLst/>
            <a:cxnLst/>
            <a:rect r="r" b="b" t="t" l="l"/>
            <a:pathLst>
              <a:path h="5214183" w="3251754">
                <a:moveTo>
                  <a:pt x="3251755" y="5214183"/>
                </a:moveTo>
                <a:lnTo>
                  <a:pt x="0" y="5214183"/>
                </a:lnTo>
                <a:lnTo>
                  <a:pt x="0" y="0"/>
                </a:lnTo>
                <a:lnTo>
                  <a:pt x="3251755" y="0"/>
                </a:lnTo>
                <a:lnTo>
                  <a:pt x="3251755" y="5214183"/>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827377" y="4652226"/>
            <a:ext cx="2140474" cy="2140474"/>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9E920"/>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4950570" y="4652226"/>
            <a:ext cx="2140474" cy="2140474"/>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9E920"/>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8073763" y="4652226"/>
            <a:ext cx="2140474" cy="214047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9E920"/>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1196957" y="4652226"/>
            <a:ext cx="2140474" cy="2140474"/>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9E920"/>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4320150" y="4652226"/>
            <a:ext cx="2140474" cy="2140474"/>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9E920"/>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9" id="19"/>
          <p:cNvSpPr/>
          <p:nvPr/>
        </p:nvSpPr>
        <p:spPr>
          <a:xfrm flipH="true" flipV="true" rot="5400000">
            <a:off x="243623" y="121818"/>
            <a:ext cx="1309712" cy="1727438"/>
          </a:xfrm>
          <a:custGeom>
            <a:avLst/>
            <a:gdLst/>
            <a:ahLst/>
            <a:cxnLst/>
            <a:rect r="r" b="b" t="t" l="l"/>
            <a:pathLst>
              <a:path h="1727438" w="1309712">
                <a:moveTo>
                  <a:pt x="1309712" y="1727437"/>
                </a:moveTo>
                <a:lnTo>
                  <a:pt x="0" y="1727437"/>
                </a:lnTo>
                <a:lnTo>
                  <a:pt x="0" y="0"/>
                </a:lnTo>
                <a:lnTo>
                  <a:pt x="1309712" y="0"/>
                </a:lnTo>
                <a:lnTo>
                  <a:pt x="1309712" y="172743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false" flipV="false" rot="0">
            <a:off x="17041001" y="9054785"/>
            <a:ext cx="1246999" cy="1246999"/>
          </a:xfrm>
          <a:custGeom>
            <a:avLst/>
            <a:gdLst/>
            <a:ahLst/>
            <a:cxnLst/>
            <a:rect r="r" b="b" t="t" l="l"/>
            <a:pathLst>
              <a:path h="1246999" w="1246999">
                <a:moveTo>
                  <a:pt x="0" y="0"/>
                </a:moveTo>
                <a:lnTo>
                  <a:pt x="1246999" y="0"/>
                </a:lnTo>
                <a:lnTo>
                  <a:pt x="1246999" y="1246999"/>
                </a:lnTo>
                <a:lnTo>
                  <a:pt x="0" y="12469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1" id="21"/>
          <p:cNvSpPr/>
          <p:nvPr/>
        </p:nvSpPr>
        <p:spPr>
          <a:xfrm flipH="false" flipV="false" rot="0">
            <a:off x="2295479" y="5118262"/>
            <a:ext cx="1204268" cy="1208402"/>
          </a:xfrm>
          <a:custGeom>
            <a:avLst/>
            <a:gdLst/>
            <a:ahLst/>
            <a:cxnLst/>
            <a:rect r="r" b="b" t="t" l="l"/>
            <a:pathLst>
              <a:path h="1208402" w="1204268">
                <a:moveTo>
                  <a:pt x="0" y="0"/>
                </a:moveTo>
                <a:lnTo>
                  <a:pt x="1204268" y="0"/>
                </a:lnTo>
                <a:lnTo>
                  <a:pt x="1204268" y="1208402"/>
                </a:lnTo>
                <a:lnTo>
                  <a:pt x="0" y="120840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2" id="22"/>
          <p:cNvSpPr/>
          <p:nvPr/>
        </p:nvSpPr>
        <p:spPr>
          <a:xfrm flipH="false" flipV="false" rot="0">
            <a:off x="5323928" y="5035801"/>
            <a:ext cx="1393758" cy="1373324"/>
          </a:xfrm>
          <a:custGeom>
            <a:avLst/>
            <a:gdLst/>
            <a:ahLst/>
            <a:cxnLst/>
            <a:rect r="r" b="b" t="t" l="l"/>
            <a:pathLst>
              <a:path h="1373324" w="1393758">
                <a:moveTo>
                  <a:pt x="0" y="0"/>
                </a:moveTo>
                <a:lnTo>
                  <a:pt x="1393758" y="0"/>
                </a:lnTo>
                <a:lnTo>
                  <a:pt x="1393758" y="1373324"/>
                </a:lnTo>
                <a:lnTo>
                  <a:pt x="0" y="137332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3" id="23"/>
          <p:cNvSpPr/>
          <p:nvPr/>
        </p:nvSpPr>
        <p:spPr>
          <a:xfrm flipH="false" flipV="false" rot="0">
            <a:off x="8514561" y="5067786"/>
            <a:ext cx="1258878" cy="1258878"/>
          </a:xfrm>
          <a:custGeom>
            <a:avLst/>
            <a:gdLst/>
            <a:ahLst/>
            <a:cxnLst/>
            <a:rect r="r" b="b" t="t" l="l"/>
            <a:pathLst>
              <a:path h="1258878" w="1258878">
                <a:moveTo>
                  <a:pt x="0" y="0"/>
                </a:moveTo>
                <a:lnTo>
                  <a:pt x="1258878" y="0"/>
                </a:lnTo>
                <a:lnTo>
                  <a:pt x="1258878" y="1258878"/>
                </a:lnTo>
                <a:lnTo>
                  <a:pt x="0" y="125887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4" id="24"/>
          <p:cNvSpPr/>
          <p:nvPr/>
        </p:nvSpPr>
        <p:spPr>
          <a:xfrm flipH="false" flipV="false" rot="0">
            <a:off x="11703006" y="4992215"/>
            <a:ext cx="1128375" cy="1416910"/>
          </a:xfrm>
          <a:custGeom>
            <a:avLst/>
            <a:gdLst/>
            <a:ahLst/>
            <a:cxnLst/>
            <a:rect r="r" b="b" t="t" l="l"/>
            <a:pathLst>
              <a:path h="1416910" w="1128375">
                <a:moveTo>
                  <a:pt x="0" y="0"/>
                </a:moveTo>
                <a:lnTo>
                  <a:pt x="1128375" y="0"/>
                </a:lnTo>
                <a:lnTo>
                  <a:pt x="1128375" y="1416910"/>
                </a:lnTo>
                <a:lnTo>
                  <a:pt x="0" y="141691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5" id="25"/>
          <p:cNvSpPr/>
          <p:nvPr/>
        </p:nvSpPr>
        <p:spPr>
          <a:xfrm flipH="false" flipV="false" rot="0">
            <a:off x="14608300" y="5067786"/>
            <a:ext cx="1564174" cy="1202992"/>
          </a:xfrm>
          <a:custGeom>
            <a:avLst/>
            <a:gdLst/>
            <a:ahLst/>
            <a:cxnLst/>
            <a:rect r="r" b="b" t="t" l="l"/>
            <a:pathLst>
              <a:path h="1202992" w="1564174">
                <a:moveTo>
                  <a:pt x="0" y="0"/>
                </a:moveTo>
                <a:lnTo>
                  <a:pt x="1564174" y="0"/>
                </a:lnTo>
                <a:lnTo>
                  <a:pt x="1564174" y="1202992"/>
                </a:lnTo>
                <a:lnTo>
                  <a:pt x="0" y="120299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26" id="26"/>
          <p:cNvSpPr txBox="true"/>
          <p:nvPr/>
        </p:nvSpPr>
        <p:spPr>
          <a:xfrm rot="0">
            <a:off x="1404575" y="7203831"/>
            <a:ext cx="2986077" cy="779780"/>
          </a:xfrm>
          <a:prstGeom prst="rect">
            <a:avLst/>
          </a:prstGeom>
        </p:spPr>
        <p:txBody>
          <a:bodyPr anchor="t" rtlCol="false" tIns="0" lIns="0" bIns="0" rIns="0">
            <a:spAutoFit/>
          </a:bodyPr>
          <a:lstStyle/>
          <a:p>
            <a:pPr algn="ctr">
              <a:lnSpc>
                <a:spcPts val="3220"/>
              </a:lnSpc>
              <a:spcBef>
                <a:spcPct val="0"/>
              </a:spcBef>
            </a:pPr>
            <a:r>
              <a:rPr lang="en-US" b="true" sz="2300" spc="-112">
                <a:solidFill>
                  <a:srgbClr val="FFFFFF"/>
                </a:solidFill>
                <a:latin typeface="Open Sauce Bold"/>
                <a:ea typeface="Open Sauce Bold"/>
                <a:cs typeface="Open Sauce Bold"/>
                <a:sym typeface="Open Sauce Bold"/>
              </a:rPr>
              <a:t>Reduced Greenhouse Gas Emissions</a:t>
            </a:r>
          </a:p>
        </p:txBody>
      </p:sp>
      <p:sp>
        <p:nvSpPr>
          <p:cNvPr name="TextBox 27" id="27"/>
          <p:cNvSpPr txBox="true"/>
          <p:nvPr/>
        </p:nvSpPr>
        <p:spPr>
          <a:xfrm rot="0">
            <a:off x="5100906" y="7203831"/>
            <a:ext cx="1839801" cy="779780"/>
          </a:xfrm>
          <a:prstGeom prst="rect">
            <a:avLst/>
          </a:prstGeom>
        </p:spPr>
        <p:txBody>
          <a:bodyPr anchor="t" rtlCol="false" tIns="0" lIns="0" bIns="0" rIns="0">
            <a:spAutoFit/>
          </a:bodyPr>
          <a:lstStyle/>
          <a:p>
            <a:pPr algn="ctr">
              <a:lnSpc>
                <a:spcPts val="3220"/>
              </a:lnSpc>
              <a:spcBef>
                <a:spcPct val="0"/>
              </a:spcBef>
            </a:pPr>
            <a:r>
              <a:rPr lang="en-US" b="true" sz="2300" spc="-112">
                <a:solidFill>
                  <a:srgbClr val="FFFFFF"/>
                </a:solidFill>
                <a:latin typeface="Open Sauce Bold"/>
                <a:ea typeface="Open Sauce Bold"/>
                <a:cs typeface="Open Sauce Bold"/>
                <a:sym typeface="Open Sauce Bold"/>
              </a:rPr>
              <a:t>Improved Air Quality</a:t>
            </a:r>
          </a:p>
        </p:txBody>
      </p:sp>
      <p:sp>
        <p:nvSpPr>
          <p:cNvPr name="TextBox 28" id="28"/>
          <p:cNvSpPr txBox="true"/>
          <p:nvPr/>
        </p:nvSpPr>
        <p:spPr>
          <a:xfrm rot="0">
            <a:off x="898479" y="1734439"/>
            <a:ext cx="16766022" cy="2917788"/>
          </a:xfrm>
          <a:prstGeom prst="rect">
            <a:avLst/>
          </a:prstGeom>
        </p:spPr>
        <p:txBody>
          <a:bodyPr anchor="t" rtlCol="false" tIns="0" lIns="0" bIns="0" rIns="0">
            <a:spAutoFit/>
          </a:bodyPr>
          <a:lstStyle/>
          <a:p>
            <a:pPr algn="l">
              <a:lnSpc>
                <a:spcPts val="2603"/>
              </a:lnSpc>
            </a:pPr>
          </a:p>
          <a:p>
            <a:pPr algn="l">
              <a:lnSpc>
                <a:spcPts val="2603"/>
              </a:lnSpc>
            </a:pPr>
            <a:r>
              <a:rPr lang="en-US" sz="2002">
                <a:solidFill>
                  <a:srgbClr val="FFFFFF"/>
                </a:solidFill>
                <a:latin typeface="Public Sans"/>
                <a:ea typeface="Public Sans"/>
                <a:cs typeface="Public Sans"/>
                <a:sym typeface="Public Sans"/>
              </a:rPr>
              <a:t>This research prioritizes "Green AI" by quantifying the environmental cost of data management.</a:t>
            </a:r>
          </a:p>
          <a:p>
            <a:pPr algn="l">
              <a:lnSpc>
                <a:spcPts val="2603"/>
              </a:lnSpc>
            </a:pPr>
          </a:p>
          <a:p>
            <a:pPr algn="l" marL="432435" indent="-216218" lvl="1">
              <a:lnSpc>
                <a:spcPts val="2603"/>
              </a:lnSpc>
              <a:buFont typeface="Arial"/>
              <a:buChar char="•"/>
            </a:pPr>
            <a:r>
              <a:rPr lang="en-US" sz="2002">
                <a:solidFill>
                  <a:srgbClr val="FFFFFF"/>
                </a:solidFill>
                <a:latin typeface="Public Sans"/>
                <a:ea typeface="Public Sans"/>
                <a:cs typeface="Public Sans"/>
                <a:sym typeface="Public Sans"/>
              </a:rPr>
              <a:t>Total Energy Profiling: Measuring kWh per compressed Terabyte to ensure the energy spent on GPU compression is offset by the storage and transmission energy saved.</a:t>
            </a:r>
          </a:p>
          <a:p>
            <a:pPr algn="l">
              <a:lnSpc>
                <a:spcPts val="2603"/>
              </a:lnSpc>
            </a:pPr>
          </a:p>
          <a:p>
            <a:pPr algn="l" marL="432435" indent="-216218" lvl="1">
              <a:lnSpc>
                <a:spcPts val="2603"/>
              </a:lnSpc>
              <a:buFont typeface="Arial"/>
              <a:buChar char="•"/>
            </a:pPr>
            <a:r>
              <a:rPr lang="en-US" sz="2002">
                <a:solidFill>
                  <a:srgbClr val="FFFFFF"/>
                </a:solidFill>
                <a:latin typeface="Public Sans"/>
                <a:ea typeface="Public Sans"/>
                <a:cs typeface="Public Sans"/>
                <a:sym typeface="Public Sans"/>
              </a:rPr>
              <a:t>Operational Efficiency: Monitoring GPU SM Utilization to eliminate wasted cycles, ensuring every FLOP contributes to a reduction in the carbon footprint (CO^2e) of HEP data.</a:t>
            </a:r>
          </a:p>
          <a:p>
            <a:pPr algn="l">
              <a:lnSpc>
                <a:spcPts val="2603"/>
              </a:lnSpc>
            </a:pPr>
          </a:p>
        </p:txBody>
      </p:sp>
      <p:sp>
        <p:nvSpPr>
          <p:cNvPr name="TextBox 29" id="29"/>
          <p:cNvSpPr txBox="true"/>
          <p:nvPr/>
        </p:nvSpPr>
        <p:spPr>
          <a:xfrm rot="0">
            <a:off x="7650962" y="7203831"/>
            <a:ext cx="2986077" cy="779780"/>
          </a:xfrm>
          <a:prstGeom prst="rect">
            <a:avLst/>
          </a:prstGeom>
        </p:spPr>
        <p:txBody>
          <a:bodyPr anchor="t" rtlCol="false" tIns="0" lIns="0" bIns="0" rIns="0">
            <a:spAutoFit/>
          </a:bodyPr>
          <a:lstStyle/>
          <a:p>
            <a:pPr algn="ctr">
              <a:lnSpc>
                <a:spcPts val="3220"/>
              </a:lnSpc>
              <a:spcBef>
                <a:spcPct val="0"/>
              </a:spcBef>
            </a:pPr>
            <a:r>
              <a:rPr lang="en-US" b="true" sz="2300" spc="-112">
                <a:solidFill>
                  <a:srgbClr val="FFFFFF"/>
                </a:solidFill>
                <a:latin typeface="Open Sauce Bold"/>
                <a:ea typeface="Open Sauce Bold"/>
                <a:cs typeface="Open Sauce Bold"/>
                <a:sym typeface="Open Sauce Bold"/>
              </a:rPr>
              <a:t>Climate Change Mitigation</a:t>
            </a:r>
          </a:p>
        </p:txBody>
      </p:sp>
      <p:sp>
        <p:nvSpPr>
          <p:cNvPr name="TextBox 30" id="30"/>
          <p:cNvSpPr txBox="true"/>
          <p:nvPr/>
        </p:nvSpPr>
        <p:spPr>
          <a:xfrm rot="0">
            <a:off x="10774155" y="7203831"/>
            <a:ext cx="2986077" cy="779780"/>
          </a:xfrm>
          <a:prstGeom prst="rect">
            <a:avLst/>
          </a:prstGeom>
        </p:spPr>
        <p:txBody>
          <a:bodyPr anchor="t" rtlCol="false" tIns="0" lIns="0" bIns="0" rIns="0">
            <a:spAutoFit/>
          </a:bodyPr>
          <a:lstStyle/>
          <a:p>
            <a:pPr algn="ctr">
              <a:lnSpc>
                <a:spcPts val="3220"/>
              </a:lnSpc>
              <a:spcBef>
                <a:spcPct val="0"/>
              </a:spcBef>
            </a:pPr>
            <a:r>
              <a:rPr lang="en-US" b="true" sz="2300" spc="-112">
                <a:solidFill>
                  <a:srgbClr val="FFFFFF"/>
                </a:solidFill>
                <a:latin typeface="Open Sauce Bold"/>
                <a:ea typeface="Open Sauce Bold"/>
                <a:cs typeface="Open Sauce Bold"/>
                <a:sym typeface="Open Sauce Bold"/>
              </a:rPr>
              <a:t>Conservation of Natural Resources</a:t>
            </a:r>
          </a:p>
        </p:txBody>
      </p:sp>
      <p:sp>
        <p:nvSpPr>
          <p:cNvPr name="TextBox 31" id="31"/>
          <p:cNvSpPr txBox="true"/>
          <p:nvPr/>
        </p:nvSpPr>
        <p:spPr>
          <a:xfrm rot="0">
            <a:off x="14455790" y="7203831"/>
            <a:ext cx="1869192" cy="779780"/>
          </a:xfrm>
          <a:prstGeom prst="rect">
            <a:avLst/>
          </a:prstGeom>
        </p:spPr>
        <p:txBody>
          <a:bodyPr anchor="t" rtlCol="false" tIns="0" lIns="0" bIns="0" rIns="0">
            <a:spAutoFit/>
          </a:bodyPr>
          <a:lstStyle/>
          <a:p>
            <a:pPr algn="ctr">
              <a:lnSpc>
                <a:spcPts val="3220"/>
              </a:lnSpc>
              <a:spcBef>
                <a:spcPct val="0"/>
              </a:spcBef>
            </a:pPr>
            <a:r>
              <a:rPr lang="en-US" b="true" sz="2300" spc="-112">
                <a:solidFill>
                  <a:srgbClr val="FFFFFF"/>
                </a:solidFill>
                <a:latin typeface="Open Sauce Bold"/>
                <a:ea typeface="Open Sauce Bold"/>
                <a:cs typeface="Open Sauce Bold"/>
                <a:sym typeface="Open Sauce Bold"/>
              </a:rPr>
              <a:t>Ecosystem Protection</a:t>
            </a:r>
          </a:p>
        </p:txBody>
      </p:sp>
      <p:sp>
        <p:nvSpPr>
          <p:cNvPr name="TextBox 32" id="32"/>
          <p:cNvSpPr txBox="true"/>
          <p:nvPr/>
        </p:nvSpPr>
        <p:spPr>
          <a:xfrm rot="0">
            <a:off x="4390652" y="644516"/>
            <a:ext cx="5731075" cy="1038225"/>
          </a:xfrm>
          <a:prstGeom prst="rect">
            <a:avLst/>
          </a:prstGeom>
        </p:spPr>
        <p:txBody>
          <a:bodyPr anchor="t" rtlCol="false" tIns="0" lIns="0" bIns="0" rIns="0">
            <a:spAutoFit/>
          </a:bodyPr>
          <a:lstStyle/>
          <a:p>
            <a:pPr algn="r">
              <a:lnSpc>
                <a:spcPts val="8400"/>
              </a:lnSpc>
              <a:spcBef>
                <a:spcPct val="0"/>
              </a:spcBef>
            </a:pPr>
            <a:r>
              <a:rPr lang="en-US" b="true" sz="6000" spc="-294">
                <a:solidFill>
                  <a:srgbClr val="FFFFFF"/>
                </a:solidFill>
                <a:latin typeface="Open Sauce Bold"/>
                <a:ea typeface="Open Sauce Bold"/>
                <a:cs typeface="Open Sauce Bold"/>
                <a:sym typeface="Open Sauce Bold"/>
              </a:rPr>
              <a:t>Environmental</a:t>
            </a:r>
          </a:p>
        </p:txBody>
      </p:sp>
      <p:sp>
        <p:nvSpPr>
          <p:cNvPr name="TextBox 33" id="33"/>
          <p:cNvSpPr txBox="true"/>
          <p:nvPr/>
        </p:nvSpPr>
        <p:spPr>
          <a:xfrm rot="0">
            <a:off x="10214237" y="644516"/>
            <a:ext cx="3605529" cy="1038225"/>
          </a:xfrm>
          <a:prstGeom prst="rect">
            <a:avLst/>
          </a:prstGeom>
        </p:spPr>
        <p:txBody>
          <a:bodyPr anchor="t" rtlCol="false" tIns="0" lIns="0" bIns="0" rIns="0">
            <a:spAutoFit/>
          </a:bodyPr>
          <a:lstStyle/>
          <a:p>
            <a:pPr algn="l">
              <a:lnSpc>
                <a:spcPts val="8400"/>
              </a:lnSpc>
              <a:spcBef>
                <a:spcPct val="0"/>
              </a:spcBef>
            </a:pPr>
            <a:r>
              <a:rPr lang="en-US" b="true" sz="6000" spc="-294">
                <a:solidFill>
                  <a:srgbClr val="79E920"/>
                </a:solidFill>
                <a:latin typeface="Open Sauce Bold"/>
                <a:ea typeface="Open Sauce Bold"/>
                <a:cs typeface="Open Sauce Bold"/>
                <a:sym typeface="Open Sauce Bold"/>
              </a:rPr>
              <a:t>Be</a:t>
            </a:r>
            <a:r>
              <a:rPr lang="en-US" b="true" sz="6000" spc="-294">
                <a:solidFill>
                  <a:srgbClr val="79E920"/>
                </a:solidFill>
                <a:latin typeface="Open Sauce Bold"/>
                <a:ea typeface="Open Sauce Bold"/>
                <a:cs typeface="Open Sauce Bold"/>
                <a:sym typeface="Open Sauce Bold"/>
              </a:rPr>
              <a:t>nefits</a:t>
            </a:r>
          </a:p>
        </p:txBody>
      </p:sp>
      <p:sp>
        <p:nvSpPr>
          <p:cNvPr name="Freeform 34" id="34"/>
          <p:cNvSpPr/>
          <p:nvPr/>
        </p:nvSpPr>
        <p:spPr>
          <a:xfrm flipH="false" flipV="false" rot="0">
            <a:off x="8583080" y="9678284"/>
            <a:ext cx="1121840" cy="422199"/>
          </a:xfrm>
          <a:custGeom>
            <a:avLst/>
            <a:gdLst/>
            <a:ahLst/>
            <a:cxnLst/>
            <a:rect r="r" b="b" t="t" l="l"/>
            <a:pathLst>
              <a:path h="422199" w="1121840">
                <a:moveTo>
                  <a:pt x="0" y="0"/>
                </a:moveTo>
                <a:lnTo>
                  <a:pt x="1121840" y="0"/>
                </a:lnTo>
                <a:lnTo>
                  <a:pt x="1121840" y="422199"/>
                </a:lnTo>
                <a:lnTo>
                  <a:pt x="0" y="422199"/>
                </a:lnTo>
                <a:lnTo>
                  <a:pt x="0" y="0"/>
                </a:lnTo>
                <a:close/>
              </a:path>
            </a:pathLst>
          </a:custGeom>
          <a:blipFill>
            <a:blip r:embed="rId18">
              <a:extLst>
                <a:ext uri="{96DAC541-7B7A-43D3-8B79-37D633B846F1}">
                  <asvg:svgBlip xmlns:asvg="http://schemas.microsoft.com/office/drawing/2016/SVG/main" r:embed="rId19"/>
                </a:ext>
              </a:extLst>
            </a:blip>
            <a:stretch>
              <a:fillRect l="0" t="-360269" r="-71960" b="0"/>
            </a:stretch>
          </a:blipFill>
        </p:spPr>
      </p:sp>
      <p:sp>
        <p:nvSpPr>
          <p:cNvPr name="TextBox 35" id="35"/>
          <p:cNvSpPr txBox="true"/>
          <p:nvPr/>
        </p:nvSpPr>
        <p:spPr>
          <a:xfrm rot="0">
            <a:off x="4932462" y="8755136"/>
            <a:ext cx="8423077" cy="464821"/>
          </a:xfrm>
          <a:prstGeom prst="rect">
            <a:avLst/>
          </a:prstGeom>
        </p:spPr>
        <p:txBody>
          <a:bodyPr anchor="t" rtlCol="false" tIns="0" lIns="0" bIns="0" rIns="0">
            <a:spAutoFit/>
          </a:bodyPr>
          <a:lstStyle/>
          <a:p>
            <a:pPr algn="ctr">
              <a:lnSpc>
                <a:spcPts val="3779"/>
              </a:lnSpc>
              <a:spcBef>
                <a:spcPct val="0"/>
              </a:spcBef>
            </a:pPr>
            <a:r>
              <a:rPr lang="en-US" b="true" sz="2699">
                <a:solidFill>
                  <a:srgbClr val="FFFFFF"/>
                </a:solidFill>
                <a:latin typeface="Canva Sans Bold"/>
                <a:ea typeface="Canva Sans Bold"/>
                <a:cs typeface="Canva Sans Bold"/>
                <a:sym typeface="Canva Sans Bold"/>
              </a:rPr>
              <a:t>Sustainable Research: The "Energy-per-Bit" Metric</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C2C2C">
                <a:alpha val="100000"/>
              </a:srgbClr>
            </a:gs>
            <a:gs pos="100000">
              <a:srgbClr val="000000">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true" rot="0">
            <a:off x="15471768" y="-2169221"/>
            <a:ext cx="5336336" cy="8556807"/>
          </a:xfrm>
          <a:custGeom>
            <a:avLst/>
            <a:gdLst/>
            <a:ahLst/>
            <a:cxnLst/>
            <a:rect r="r" b="b" t="t" l="l"/>
            <a:pathLst>
              <a:path h="8556807" w="5336336">
                <a:moveTo>
                  <a:pt x="0" y="8556807"/>
                </a:moveTo>
                <a:lnTo>
                  <a:pt x="5336336" y="8556807"/>
                </a:lnTo>
                <a:lnTo>
                  <a:pt x="5336336" y="0"/>
                </a:lnTo>
                <a:lnTo>
                  <a:pt x="0" y="0"/>
                </a:lnTo>
                <a:lnTo>
                  <a:pt x="0" y="855680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2520104" y="3899414"/>
            <a:ext cx="5336336" cy="8556807"/>
          </a:xfrm>
          <a:custGeom>
            <a:avLst/>
            <a:gdLst/>
            <a:ahLst/>
            <a:cxnLst/>
            <a:rect r="r" b="b" t="t" l="l"/>
            <a:pathLst>
              <a:path h="8556807" w="5336336">
                <a:moveTo>
                  <a:pt x="5336336" y="0"/>
                </a:moveTo>
                <a:lnTo>
                  <a:pt x="0" y="0"/>
                </a:lnTo>
                <a:lnTo>
                  <a:pt x="0" y="8556807"/>
                </a:lnTo>
                <a:lnTo>
                  <a:pt x="5336336" y="8556807"/>
                </a:lnTo>
                <a:lnTo>
                  <a:pt x="533633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768686" y="768913"/>
            <a:ext cx="1849220" cy="1849220"/>
          </a:xfrm>
          <a:custGeom>
            <a:avLst/>
            <a:gdLst/>
            <a:ahLst/>
            <a:cxnLst/>
            <a:rect r="r" b="b" t="t" l="l"/>
            <a:pathLst>
              <a:path h="1849220" w="1849220">
                <a:moveTo>
                  <a:pt x="1849219" y="1849219"/>
                </a:moveTo>
                <a:lnTo>
                  <a:pt x="0" y="1849219"/>
                </a:lnTo>
                <a:lnTo>
                  <a:pt x="0" y="0"/>
                </a:lnTo>
                <a:lnTo>
                  <a:pt x="1849219" y="0"/>
                </a:lnTo>
                <a:lnTo>
                  <a:pt x="1849219" y="184921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400000">
            <a:off x="13333013" y="121638"/>
            <a:ext cx="1375437" cy="1814125"/>
          </a:xfrm>
          <a:custGeom>
            <a:avLst/>
            <a:gdLst/>
            <a:ahLst/>
            <a:cxnLst/>
            <a:rect r="r" b="b" t="t" l="l"/>
            <a:pathLst>
              <a:path h="1814125" w="1375437">
                <a:moveTo>
                  <a:pt x="0" y="0"/>
                </a:moveTo>
                <a:lnTo>
                  <a:pt x="1375437" y="0"/>
                </a:lnTo>
                <a:lnTo>
                  <a:pt x="1375437" y="1814124"/>
                </a:lnTo>
                <a:lnTo>
                  <a:pt x="0" y="181412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6895057" y="6314059"/>
            <a:ext cx="4497886" cy="605307"/>
            <a:chOff x="0" y="0"/>
            <a:chExt cx="3019857" cy="406400"/>
          </a:xfrm>
        </p:grpSpPr>
        <p:sp>
          <p:nvSpPr>
            <p:cNvPr name="Freeform 7" id="7"/>
            <p:cNvSpPr/>
            <p:nvPr/>
          </p:nvSpPr>
          <p:spPr>
            <a:xfrm flipH="false" flipV="false" rot="0">
              <a:off x="0" y="0"/>
              <a:ext cx="3019857" cy="406400"/>
            </a:xfrm>
            <a:custGeom>
              <a:avLst/>
              <a:gdLst/>
              <a:ahLst/>
              <a:cxnLst/>
              <a:rect r="r" b="b" t="t" l="l"/>
              <a:pathLst>
                <a:path h="406400" w="3019857">
                  <a:moveTo>
                    <a:pt x="2816657" y="0"/>
                  </a:moveTo>
                  <a:cubicBezTo>
                    <a:pt x="2928881" y="0"/>
                    <a:pt x="3019857" y="90976"/>
                    <a:pt x="3019857" y="203200"/>
                  </a:cubicBezTo>
                  <a:cubicBezTo>
                    <a:pt x="3019857" y="315424"/>
                    <a:pt x="2928881" y="406400"/>
                    <a:pt x="2816657" y="406400"/>
                  </a:cubicBezTo>
                  <a:lnTo>
                    <a:pt x="203200" y="406400"/>
                  </a:lnTo>
                  <a:cubicBezTo>
                    <a:pt x="90976" y="406400"/>
                    <a:pt x="0" y="315424"/>
                    <a:pt x="0" y="203200"/>
                  </a:cubicBezTo>
                  <a:cubicBezTo>
                    <a:pt x="0" y="90976"/>
                    <a:pt x="90976" y="0"/>
                    <a:pt x="203200" y="0"/>
                  </a:cubicBezTo>
                  <a:close/>
                </a:path>
              </a:pathLst>
            </a:custGeom>
            <a:solidFill>
              <a:srgbClr val="79E920"/>
            </a:solidFill>
          </p:spPr>
        </p:sp>
        <p:sp>
          <p:nvSpPr>
            <p:cNvPr name="TextBox 8" id="8"/>
            <p:cNvSpPr txBox="true"/>
            <p:nvPr/>
          </p:nvSpPr>
          <p:spPr>
            <a:xfrm>
              <a:off x="0" y="-38100"/>
              <a:ext cx="3019857"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2875265" y="3899414"/>
            <a:ext cx="5589660" cy="5579497"/>
          </a:xfrm>
          <a:custGeom>
            <a:avLst/>
            <a:gdLst/>
            <a:ahLst/>
            <a:cxnLst/>
            <a:rect r="r" b="b" t="t" l="l"/>
            <a:pathLst>
              <a:path h="5579497" w="5589660">
                <a:moveTo>
                  <a:pt x="0" y="0"/>
                </a:moveTo>
                <a:lnTo>
                  <a:pt x="5589660" y="0"/>
                </a:lnTo>
                <a:lnTo>
                  <a:pt x="5589660" y="5579497"/>
                </a:lnTo>
                <a:lnTo>
                  <a:pt x="0" y="5579497"/>
                </a:lnTo>
                <a:lnTo>
                  <a:pt x="0" y="0"/>
                </a:lnTo>
                <a:close/>
              </a:path>
            </a:pathLst>
          </a:custGeom>
          <a:blipFill>
            <a:blip r:embed="rId8"/>
            <a:stretch>
              <a:fillRect l="0" t="0" r="0" b="0"/>
            </a:stretch>
          </a:blipFill>
        </p:spPr>
      </p:sp>
      <p:grpSp>
        <p:nvGrpSpPr>
          <p:cNvPr name="Group 10" id="10"/>
          <p:cNvGrpSpPr/>
          <p:nvPr/>
        </p:nvGrpSpPr>
        <p:grpSpPr>
          <a:xfrm rot="0">
            <a:off x="13193979" y="4402009"/>
            <a:ext cx="4574307" cy="4574307"/>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9E920">
                    <a:alpha val="100000"/>
                  </a:srgbClr>
                </a:gs>
                <a:gs pos="100000">
                  <a:srgbClr val="233D0F">
                    <a:alpha val="100000"/>
                  </a:srgbClr>
                </a:gs>
              </a:gsLst>
              <a:lin ang="0"/>
            </a:gra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21402" y="3899414"/>
            <a:ext cx="5589660" cy="5579497"/>
          </a:xfrm>
          <a:custGeom>
            <a:avLst/>
            <a:gdLst/>
            <a:ahLst/>
            <a:cxnLst/>
            <a:rect r="r" b="b" t="t" l="l"/>
            <a:pathLst>
              <a:path h="5579497" w="5589660">
                <a:moveTo>
                  <a:pt x="0" y="0"/>
                </a:moveTo>
                <a:lnTo>
                  <a:pt x="5589660" y="0"/>
                </a:lnTo>
                <a:lnTo>
                  <a:pt x="5589660" y="5579497"/>
                </a:lnTo>
                <a:lnTo>
                  <a:pt x="0" y="5579497"/>
                </a:lnTo>
                <a:lnTo>
                  <a:pt x="0" y="0"/>
                </a:lnTo>
                <a:close/>
              </a:path>
            </a:pathLst>
          </a:custGeom>
          <a:blipFill>
            <a:blip r:embed="rId8"/>
            <a:stretch>
              <a:fillRect l="0" t="0" r="0" b="0"/>
            </a:stretch>
          </a:blipFill>
        </p:spPr>
      </p:sp>
      <p:grpSp>
        <p:nvGrpSpPr>
          <p:cNvPr name="Group 14" id="14"/>
          <p:cNvGrpSpPr/>
          <p:nvPr/>
        </p:nvGrpSpPr>
        <p:grpSpPr>
          <a:xfrm rot="0">
            <a:off x="519715" y="4402009"/>
            <a:ext cx="4574307" cy="4574307"/>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9E920">
                    <a:alpha val="100000"/>
                  </a:srgbClr>
                </a:gs>
                <a:gs pos="100000">
                  <a:srgbClr val="233D0F">
                    <a:alpha val="100000"/>
                  </a:srgbClr>
                </a:gs>
              </a:gsLst>
              <a:lin ang="0"/>
            </a:gra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3532843" y="4740873"/>
            <a:ext cx="3896579" cy="3896579"/>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9"/>
              <a:stretch>
                <a:fillRect l="-67967" t="-26195" r="-56380" b="0"/>
              </a:stretch>
            </a:blipFill>
          </p:spPr>
        </p:sp>
      </p:grpSp>
      <p:grpSp>
        <p:nvGrpSpPr>
          <p:cNvPr name="Group 19" id="19"/>
          <p:cNvGrpSpPr/>
          <p:nvPr/>
        </p:nvGrpSpPr>
        <p:grpSpPr>
          <a:xfrm rot="0">
            <a:off x="858579" y="4740873"/>
            <a:ext cx="3896579" cy="3896579"/>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0"/>
              <a:stretch>
                <a:fillRect l="-38888" t="0" r="-38888" b="0"/>
              </a:stretch>
            </a:blipFill>
          </p:spPr>
        </p:sp>
      </p:grpSp>
      <p:sp>
        <p:nvSpPr>
          <p:cNvPr name="Freeform 21" id="21"/>
          <p:cNvSpPr/>
          <p:nvPr/>
        </p:nvSpPr>
        <p:spPr>
          <a:xfrm flipH="true" flipV="true" rot="5400000">
            <a:off x="3980665" y="8351238"/>
            <a:ext cx="1375437" cy="1814125"/>
          </a:xfrm>
          <a:custGeom>
            <a:avLst/>
            <a:gdLst/>
            <a:ahLst/>
            <a:cxnLst/>
            <a:rect r="r" b="b" t="t" l="l"/>
            <a:pathLst>
              <a:path h="1814125" w="1375437">
                <a:moveTo>
                  <a:pt x="1375436" y="1814124"/>
                </a:moveTo>
                <a:lnTo>
                  <a:pt x="0" y="1814124"/>
                </a:lnTo>
                <a:lnTo>
                  <a:pt x="0" y="0"/>
                </a:lnTo>
                <a:lnTo>
                  <a:pt x="1375436" y="0"/>
                </a:lnTo>
                <a:lnTo>
                  <a:pt x="1375436" y="181412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false" rot="0">
            <a:off x="15670095" y="7668868"/>
            <a:ext cx="1849220" cy="1849220"/>
          </a:xfrm>
          <a:custGeom>
            <a:avLst/>
            <a:gdLst/>
            <a:ahLst/>
            <a:cxnLst/>
            <a:rect r="r" b="b" t="t" l="l"/>
            <a:pathLst>
              <a:path h="1849220" w="1849220">
                <a:moveTo>
                  <a:pt x="0" y="0"/>
                </a:moveTo>
                <a:lnTo>
                  <a:pt x="1849219" y="0"/>
                </a:lnTo>
                <a:lnTo>
                  <a:pt x="1849219" y="1849219"/>
                </a:lnTo>
                <a:lnTo>
                  <a:pt x="0" y="184921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3" id="23"/>
          <p:cNvSpPr/>
          <p:nvPr/>
        </p:nvSpPr>
        <p:spPr>
          <a:xfrm flipH="false" flipV="false" rot="0">
            <a:off x="12898891" y="7746402"/>
            <a:ext cx="1121840" cy="422199"/>
          </a:xfrm>
          <a:custGeom>
            <a:avLst/>
            <a:gdLst/>
            <a:ahLst/>
            <a:cxnLst/>
            <a:rect r="r" b="b" t="t" l="l"/>
            <a:pathLst>
              <a:path h="422199" w="1121840">
                <a:moveTo>
                  <a:pt x="0" y="0"/>
                </a:moveTo>
                <a:lnTo>
                  <a:pt x="1121841" y="0"/>
                </a:lnTo>
                <a:lnTo>
                  <a:pt x="1121841" y="422199"/>
                </a:lnTo>
                <a:lnTo>
                  <a:pt x="0" y="422199"/>
                </a:lnTo>
                <a:lnTo>
                  <a:pt x="0" y="0"/>
                </a:lnTo>
                <a:close/>
              </a:path>
            </a:pathLst>
          </a:custGeom>
          <a:blipFill>
            <a:blip r:embed="rId11">
              <a:extLst>
                <a:ext uri="{96DAC541-7B7A-43D3-8B79-37D633B846F1}">
                  <asvg:svgBlip xmlns:asvg="http://schemas.microsoft.com/office/drawing/2016/SVG/main" r:embed="rId12"/>
                </a:ext>
              </a:extLst>
            </a:blip>
            <a:stretch>
              <a:fillRect l="0" t="-360269" r="-71960" b="0"/>
            </a:stretch>
          </a:blipFill>
        </p:spPr>
      </p:sp>
      <p:sp>
        <p:nvSpPr>
          <p:cNvPr name="Freeform 24" id="24"/>
          <p:cNvSpPr/>
          <p:nvPr/>
        </p:nvSpPr>
        <p:spPr>
          <a:xfrm flipH="false" flipV="false" rot="0">
            <a:off x="2889770" y="1482423"/>
            <a:ext cx="1121840" cy="422199"/>
          </a:xfrm>
          <a:custGeom>
            <a:avLst/>
            <a:gdLst/>
            <a:ahLst/>
            <a:cxnLst/>
            <a:rect r="r" b="b" t="t" l="l"/>
            <a:pathLst>
              <a:path h="422199" w="1121840">
                <a:moveTo>
                  <a:pt x="0" y="0"/>
                </a:moveTo>
                <a:lnTo>
                  <a:pt x="1121840" y="0"/>
                </a:lnTo>
                <a:lnTo>
                  <a:pt x="1121840" y="422199"/>
                </a:lnTo>
                <a:lnTo>
                  <a:pt x="0" y="422199"/>
                </a:lnTo>
                <a:lnTo>
                  <a:pt x="0" y="0"/>
                </a:lnTo>
                <a:close/>
              </a:path>
            </a:pathLst>
          </a:custGeom>
          <a:blipFill>
            <a:blip r:embed="rId11">
              <a:extLst>
                <a:ext uri="{96DAC541-7B7A-43D3-8B79-37D633B846F1}">
                  <asvg:svgBlip xmlns:asvg="http://schemas.microsoft.com/office/drawing/2016/SVG/main" r:embed="rId12"/>
                </a:ext>
              </a:extLst>
            </a:blip>
            <a:stretch>
              <a:fillRect l="0" t="-360269" r="-71960" b="0"/>
            </a:stretch>
          </a:blipFill>
        </p:spPr>
      </p:sp>
      <p:sp>
        <p:nvSpPr>
          <p:cNvPr name="TextBox 25" id="25"/>
          <p:cNvSpPr txBox="true"/>
          <p:nvPr/>
        </p:nvSpPr>
        <p:spPr>
          <a:xfrm rot="0">
            <a:off x="6073838" y="2073752"/>
            <a:ext cx="6140324" cy="2462571"/>
          </a:xfrm>
          <a:prstGeom prst="rect">
            <a:avLst/>
          </a:prstGeom>
        </p:spPr>
        <p:txBody>
          <a:bodyPr anchor="t" rtlCol="false" tIns="0" lIns="0" bIns="0" rIns="0">
            <a:spAutoFit/>
          </a:bodyPr>
          <a:lstStyle/>
          <a:p>
            <a:pPr algn="ctr">
              <a:lnSpc>
                <a:spcPts val="20114"/>
              </a:lnSpc>
              <a:spcBef>
                <a:spcPct val="0"/>
              </a:spcBef>
            </a:pPr>
            <a:r>
              <a:rPr lang="en-US" b="true" sz="14367" spc="-704">
                <a:solidFill>
                  <a:srgbClr val="79E920"/>
                </a:solidFill>
                <a:latin typeface="Open Sauce Bold"/>
                <a:ea typeface="Open Sauce Bold"/>
                <a:cs typeface="Open Sauce Bold"/>
                <a:sym typeface="Open Sauce Bold"/>
              </a:rPr>
              <a:t>Thank</a:t>
            </a:r>
          </a:p>
        </p:txBody>
      </p:sp>
      <p:sp>
        <p:nvSpPr>
          <p:cNvPr name="TextBox 26" id="26"/>
          <p:cNvSpPr txBox="true"/>
          <p:nvPr/>
        </p:nvSpPr>
        <p:spPr>
          <a:xfrm rot="0">
            <a:off x="7057147" y="3687162"/>
            <a:ext cx="4173706" cy="2462571"/>
          </a:xfrm>
          <a:prstGeom prst="rect">
            <a:avLst/>
          </a:prstGeom>
        </p:spPr>
        <p:txBody>
          <a:bodyPr anchor="t" rtlCol="false" tIns="0" lIns="0" bIns="0" rIns="0">
            <a:spAutoFit/>
          </a:bodyPr>
          <a:lstStyle/>
          <a:p>
            <a:pPr algn="ctr">
              <a:lnSpc>
                <a:spcPts val="20114"/>
              </a:lnSpc>
              <a:spcBef>
                <a:spcPct val="0"/>
              </a:spcBef>
            </a:pPr>
            <a:r>
              <a:rPr lang="en-US" b="true" sz="14367" spc="-704">
                <a:solidFill>
                  <a:srgbClr val="FFFFFF"/>
                </a:solidFill>
                <a:latin typeface="Open Sauce Bold"/>
                <a:ea typeface="Open Sauce Bold"/>
                <a:cs typeface="Open Sauce Bold"/>
                <a:sym typeface="Open Sauce Bold"/>
              </a:rPr>
              <a:t>You</a:t>
            </a:r>
          </a:p>
        </p:txBody>
      </p:sp>
      <p:sp>
        <p:nvSpPr>
          <p:cNvPr name="TextBox 27" id="27"/>
          <p:cNvSpPr txBox="true"/>
          <p:nvPr/>
        </p:nvSpPr>
        <p:spPr>
          <a:xfrm rot="0">
            <a:off x="7214435" y="6311861"/>
            <a:ext cx="3859129" cy="547370"/>
          </a:xfrm>
          <a:prstGeom prst="rect">
            <a:avLst/>
          </a:prstGeom>
        </p:spPr>
        <p:txBody>
          <a:bodyPr anchor="t" rtlCol="false" tIns="0" lIns="0" bIns="0" rIns="0">
            <a:spAutoFit/>
          </a:bodyPr>
          <a:lstStyle/>
          <a:p>
            <a:pPr algn="ctr">
              <a:lnSpc>
                <a:spcPts val="4480"/>
              </a:lnSpc>
              <a:spcBef>
                <a:spcPct val="0"/>
              </a:spcBef>
            </a:pPr>
            <a:r>
              <a:rPr lang="en-US" b="true" sz="3200" spc="-96">
                <a:solidFill>
                  <a:srgbClr val="000000"/>
                </a:solidFill>
                <a:latin typeface="Public Sans Bold"/>
                <a:ea typeface="Public Sans Bold"/>
                <a:cs typeface="Public Sans Bold"/>
                <a:sym typeface="Public Sans Bold"/>
              </a:rPr>
              <a:t>For Your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DAHDuiRfmO8</dc:identifier>
  <dcterms:modified xsi:type="dcterms:W3CDTF">2011-08-01T06:04:30Z</dcterms:modified>
  <cp:revision>1</cp:revision>
  <dc:title>Green And Black Modern Professional Renewable Energy Presentation</dc:title>
</cp:coreProperties>
</file>